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5740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终端「主动扫描」的两大核心创新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3832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99E6DA"/>
                </a:solidFill>
                <a:latin typeface="Microsoft YaHei"/>
                <a:ea typeface="Microsoft YaHei"/>
                <a:cs typeface="Microsoft YaHei"/>
              </a:rPr>
              <a:t>机制:之前 → 之后　·　以及变化带来的收益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452628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456285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瞄准镜变便宜、与规模解耦（扫描器）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5285232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53218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触发与控制:被动 → 主动闭环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447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基于  A16a · LRU 主动扫描  与  DAMOS 源码分析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创新一 · 瞄准镜变便宜、与规模解耦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扫描器升级 —— 这是「使能项」,本身还不是 proactive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350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之前 · 经典 LRU + rmap 反查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33502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之后 · 两个低开销扫描器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多个进程的页表项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86584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71216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55848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PTE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743200"/>
            <a:ext cx="1188720" cy="749808"/>
          </a:xfrm>
          <a:prstGeom prst="ellipse">
            <a:avLst/>
          </a:prstGeom>
          <a:solidFill>
            <a:srgbClr val="F1F5F9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物理页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1828800" y="2093976"/>
            <a:ext cx="2331720" cy="1024128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828800" y="2578608"/>
            <a:ext cx="2331720" cy="539496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828800" y="3063240"/>
            <a:ext cx="2331720" cy="54864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828800" y="3118104"/>
            <a:ext cx="2331720" cy="429768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28800" y="3118104"/>
            <a:ext cx="2331720" cy="914400"/>
          </a:xfrm>
          <a:prstGeom prst="line">
            <a:avLst/>
          </a:prstGeom>
          <a:ln w="1397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74519" y="4224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rmap 反查:从页找回每个映射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5371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D84B3C"/>
                </a:solidFill>
                <a:latin typeface="Microsoft YaHei"/>
                <a:ea typeface="Microsoft YaHei"/>
                <a:cs typeface="Microsoft YaHei"/>
              </a:rPr>
              <a:t>✗ </a:t>
            </a:r>
            <a:r>
              <a:rPr sz="1250" b="0" i="0">
                <a:solidFill>
                  <a:srgbClr val="D84B3C"/>
                </a:solidFill>
                <a:latin typeface="Microsoft YaHei"/>
                <a:ea typeface="Microsoft YaHei"/>
                <a:cs typeface="Microsoft YaHei"/>
              </a:rPr>
              <a:t>判一页冷热要反查全部映射;成本随映射数 / 内存规模涨,大内存一次扫描达数十 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108960"/>
            <a:ext cx="667512" cy="0"/>
          </a:xfrm>
          <a:prstGeom prst="line">
            <a:avLst/>
          </a:prstGeom>
          <a:ln w="381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50992" y="274320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70078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6E66"/>
                </a:solidFill>
                <a:latin typeface="Microsoft YaHei"/>
                <a:ea typeface="Microsoft YaHei"/>
                <a:cs typeface="Microsoft YaHei"/>
              </a:rPr>
              <a:t>MGLRU · 走页表 aging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65392" y="2212848"/>
            <a:ext cx="3145536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02368" y="2066543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批量清 Accessed 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23042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5744" y="23042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26096" y="23042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23042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23042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17152" y="230428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0" y="2798064"/>
            <a:ext cx="960120" cy="365760"/>
          </a:xfrm>
          <a:prstGeom prst="roundRect">
            <a:avLst>
              <a:gd name="adj" fmla="val 18000"/>
            </a:avLst>
          </a:prstGeom>
          <a:solidFill>
            <a:srgbClr val="99E6DA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2798064"/>
            <a:ext cx="960120" cy="365760"/>
          </a:xfrm>
          <a:prstGeom prst="roundRect">
            <a:avLst>
              <a:gd name="adj" fmla="val 18000"/>
            </a:avLst>
          </a:prstGeom>
          <a:solidFill>
            <a:srgbClr val="5EC9BC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温代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2798064"/>
            <a:ext cx="960120" cy="36576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冷代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834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按代分冷热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34670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6E66"/>
                </a:solidFill>
                <a:latin typeface="Microsoft YaHei"/>
                <a:ea typeface="Microsoft YaHei"/>
                <a:cs typeface="Microsoft YaHei"/>
              </a:rPr>
              <a:t>DAMON · 区域采样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5392" y="3767328"/>
            <a:ext cx="4956048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7552944" y="3767328"/>
            <a:ext cx="0" cy="457200"/>
          </a:xfrm>
          <a:prstGeom prst="line">
            <a:avLst/>
          </a:prstGeom>
          <a:ln w="95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40496" y="3767328"/>
            <a:ext cx="0" cy="457200"/>
          </a:xfrm>
          <a:prstGeom prst="line">
            <a:avLst/>
          </a:prstGeom>
          <a:ln w="95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28048" y="3767328"/>
            <a:ext cx="0" cy="457200"/>
          </a:xfrm>
          <a:prstGeom prst="line">
            <a:avLst/>
          </a:prstGeom>
          <a:ln w="95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515600" y="3767328"/>
            <a:ext cx="0" cy="457200"/>
          </a:xfrm>
          <a:prstGeom prst="line">
            <a:avLst/>
          </a:prstGeom>
          <a:ln w="95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867144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59752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54696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47304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42248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34856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29800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2408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817351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109959" y="3950208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433425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每区只抽样几页 → 成本与内存大小无关;冷热从「LRU 近似」→「实测访问」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40680"/>
            <a:ext cx="11274552" cy="969264"/>
          </a:xfrm>
          <a:prstGeom prst="roundRect">
            <a:avLst>
              <a:gd name="adj" fmla="val 8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55321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6E66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54480" y="5504688"/>
            <a:ext cx="9966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让「周期性把内存看一遍」在能耗上可承受 —— 这才「使能」了主动扫描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扫描成本不再随内存规模爆炸　·　kswapd CPU ↓　·　判冷热更准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创新二 · 触发与控制:被动 → 主动闭环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77824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时机提前 + 触发权逐级放开 → 声明目标·自动调配额的反馈闭环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350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之前 · 被动撞水位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3502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之后 · 主动 + 声明式闭环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920240"/>
            <a:ext cx="0" cy="26517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" y="4572000"/>
            <a:ext cx="44805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755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4617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2286000"/>
            <a:ext cx="4389120" cy="0"/>
          </a:xfrm>
          <a:prstGeom prst="line">
            <a:avLst/>
          </a:prstGeom>
          <a:ln w="15875">
            <a:solidFill>
              <a:srgbClr val="D84B3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2011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84B3C"/>
                </a:solidFill>
                <a:latin typeface="Microsoft YaHei"/>
                <a:ea typeface="Microsoft YaHei"/>
                <a:cs typeface="Microsoft YaHei"/>
              </a:rPr>
              <a:t>内存上限 / 水位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60120" y="3977639"/>
            <a:ext cx="960120" cy="338329"/>
          </a:xfrm>
          <a:prstGeom prst="line">
            <a:avLst/>
          </a:prstGeom>
          <a:ln w="254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920240" y="3474720"/>
            <a:ext cx="822960" cy="502919"/>
          </a:xfrm>
          <a:prstGeom prst="line">
            <a:avLst/>
          </a:prstGeom>
          <a:ln w="254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743200" y="2788920"/>
            <a:ext cx="640080" cy="685800"/>
          </a:xfrm>
          <a:prstGeom prst="line">
            <a:avLst/>
          </a:prstGeom>
          <a:ln w="254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383280" y="2304288"/>
            <a:ext cx="457200" cy="484632"/>
          </a:xfrm>
          <a:prstGeom prst="line">
            <a:avLst/>
          </a:prstGeom>
          <a:ln w="254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40480" y="2304288"/>
            <a:ext cx="594360" cy="0"/>
          </a:xfrm>
          <a:prstGeom prst="line">
            <a:avLst/>
          </a:prstGeom>
          <a:ln w="254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840" y="2304288"/>
            <a:ext cx="502920" cy="896112"/>
          </a:xfrm>
          <a:prstGeom prst="line">
            <a:avLst/>
          </a:prstGeom>
          <a:ln w="25400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041648" y="2139696"/>
            <a:ext cx="146304" cy="146304"/>
          </a:xfrm>
          <a:prstGeom prst="ellipse">
            <a:avLst/>
          </a:prstGeom>
          <a:solidFill>
            <a:srgbClr val="D8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84B3C"/>
                </a:solidFill>
                <a:latin typeface="Microsoft YaHei"/>
                <a:ea typeface="Microsoft YaHei"/>
                <a:cs typeface="Microsoft YaHei"/>
              </a:rPr>
              <a:t>✗ 撞顶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D84B3C"/>
                </a:solidFill>
                <a:latin typeface="Microsoft YaHei"/>
                <a:ea typeface="Microsoft YaHei"/>
                <a:cs typeface="Microsoft YaHei"/>
              </a:rPr>
              <a:t>✗ </a:t>
            </a:r>
            <a:r>
              <a:rPr sz="1250" b="0" i="0">
                <a:solidFill>
                  <a:srgbClr val="D84B3C"/>
                </a:solidFill>
                <a:latin typeface="Microsoft YaHei"/>
                <a:ea typeface="Microsoft YaHei"/>
                <a:cs typeface="Microsoft YaHei"/>
              </a:rPr>
              <a:t>压力到了才扫 → 同步 direct reclaim 卡顿 / lmkd 杀;内核被动,外部难干预节奏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7373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时机:压力『前』周期扫 → 预腾 headroom + 产出冷热信息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28600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E6FBF8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① 声明固定目标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(PSI / 内存占用比)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45168" y="2286000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E6FBF8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② DAMOS 比例回路调配额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(硬上限封顶)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3977639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③ 回收 / 迁移动作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977639"/>
            <a:ext cx="233172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④ 测量当前值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per-node / per-memcg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31352" y="2706624"/>
            <a:ext cx="813816" cy="0"/>
          </a:xfrm>
          <a:prstGeom prst="line">
            <a:avLst/>
          </a:prstGeom>
          <a:ln w="22225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11028" y="3127248"/>
            <a:ext cx="0" cy="850391"/>
          </a:xfrm>
          <a:prstGeom prst="line">
            <a:avLst/>
          </a:prstGeom>
          <a:ln w="22225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531352" y="4398264"/>
            <a:ext cx="813816" cy="0"/>
          </a:xfrm>
          <a:prstGeom prst="line">
            <a:avLst/>
          </a:prstGeom>
          <a:ln w="22225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365492" y="3127248"/>
            <a:ext cx="0" cy="850391"/>
          </a:xfrm>
          <a:prstGeom prst="line">
            <a:avLst/>
          </a:prstGeom>
          <a:ln w="22225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83879" y="33101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992624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分工:选谁动手 = 冷热图　·　动多狠 = 目标指标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94960"/>
            <a:ext cx="11274552" cy="1060704"/>
          </a:xfrm>
          <a:prstGeom prst="roundRect">
            <a:avLst>
              <a:gd name="adj" fmla="val 7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468112"/>
            <a:ext cx="822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6E66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58968"/>
            <a:ext cx="996696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突发撞进 headroom → 不触顶 → 尾延迟 ↓　·　lmkd 被杀率 ↓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（注:削的是「峰值时的阻塞与被杀」,不是峰值内存需求）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✓ 激进度被闭环钳住、免人肉调参　·　硬上限守住续航红线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