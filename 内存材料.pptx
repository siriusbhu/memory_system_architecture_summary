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8"/>
  </p:notesMasterIdLst>
  <p:sldIdLst>
    <p:sldId id="282" r:id="rId4"/>
    <p:sldId id="275" r:id="rId5"/>
    <p:sldId id="263" r:id="rId6"/>
    <p:sldId id="283" r:id="rId7"/>
    <p:sldId id="285" r:id="rId9"/>
    <p:sldId id="257" r:id="rId10"/>
    <p:sldId id="258" r:id="rId11"/>
    <p:sldId id="260" r:id="rId12"/>
    <p:sldId id="261" r:id="rId13"/>
    <p:sldId id="262" r:id="rId14"/>
    <p:sldId id="272" r:id="rId15"/>
    <p:sldId id="264" r:id="rId16"/>
    <p:sldId id="279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3" r:id="rId25"/>
    <p:sldId id="276" r:id="rId26"/>
    <p:sldId id="277" r:id="rId27"/>
    <p:sldId id="274" r:id="rId28"/>
    <p:sldId id="286" r:id="rId29"/>
    <p:sldId id="287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100F"/>
    <a:srgbClr val="FFFFFF"/>
    <a:srgbClr val="B8B787"/>
    <a:srgbClr val="E1E1CD"/>
    <a:srgbClr val="F6F6F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9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06FBB5-5A84-4EFC-AD75-DCA5FD5B44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426DDE-DA50-43B8-9D59-380B27ED9D8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26DDE-DA50-43B8-9D59-380B27ED9D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3F596-F840-47ED-865E-9A6B4A50FF5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B1598-6FED-4BA6-8710-11EE8CEC88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3F596-F840-47ED-865E-9A6B4A50FF5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B1598-6FED-4BA6-8710-11EE8CEC88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3F596-F840-47ED-865E-9A6B4A50FF5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B1598-6FED-4BA6-8710-11EE8CEC88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3F596-F840-47ED-865E-9A6B4A50FF5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B1598-6FED-4BA6-8710-11EE8CEC88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3F596-F840-47ED-865E-9A6B4A50FF5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B1598-6FED-4BA6-8710-11EE8CEC88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3F596-F840-47ED-865E-9A6B4A50FF5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B1598-6FED-4BA6-8710-11EE8CEC88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3F596-F840-47ED-865E-9A6B4A50FF5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B1598-6FED-4BA6-8710-11EE8CEC88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3F596-F840-47ED-865E-9A6B4A50FF5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B1598-6FED-4BA6-8710-11EE8CEC88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3F596-F840-47ED-865E-9A6B4A50FF5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B1598-6FED-4BA6-8710-11EE8CEC88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3F596-F840-47ED-865E-9A6B4A50FF5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B1598-6FED-4BA6-8710-11EE8CEC88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3F596-F840-47ED-865E-9A6B4A50FF5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B1598-6FED-4BA6-8710-11EE8CEC88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3F596-F840-47ED-865E-9A6B4A50FF5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B1598-6FED-4BA6-8710-11EE8CEC88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3F596-F840-47ED-865E-9A6B4A50FF5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B1598-6FED-4BA6-8710-11EE8CEC88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3F596-F840-47ED-865E-9A6B4A50FF5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B1598-6FED-4BA6-8710-11EE8CEC88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3F596-F840-47ED-865E-9A6B4A50FF5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B1598-6FED-4BA6-8710-11EE8CEC88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3F596-F840-47ED-865E-9A6B4A50FF5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B1598-6FED-4BA6-8710-11EE8CEC88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3F596-F840-47ED-865E-9A6B4A50FF5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B1598-6FED-4BA6-8710-11EE8CEC88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3F596-F840-47ED-865E-9A6B4A50FF5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B1598-6FED-4BA6-8710-11EE8CEC88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3F596-F840-47ED-865E-9A6B4A50FF5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B1598-6FED-4BA6-8710-11EE8CEC88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3F596-F840-47ED-865E-9A6B4A50FF5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B1598-6FED-4BA6-8710-11EE8CEC88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3F596-F840-47ED-865E-9A6B4A50FF5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B1598-6FED-4BA6-8710-11EE8CEC88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3F596-F840-47ED-865E-9A6B4A50FF5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B1598-6FED-4BA6-8710-11EE8CEC88C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23F596-F840-47ED-865E-9A6B4A50FF5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B1598-6FED-4BA6-8710-11EE8CEC88C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23F596-F840-47ED-865E-9A6B4A50FF5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B1598-6FED-4BA6-8710-11EE8CEC88C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93343" y="197893"/>
            <a:ext cx="118053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面向内存业务的整体策略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805721" y="648469"/>
            <a:ext cx="26733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业务沙盘</a:t>
            </a:r>
            <a:endParaRPr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140622" y="648469"/>
            <a:ext cx="39868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关键举措</a:t>
            </a:r>
            <a:endParaRPr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69900" y="6277331"/>
            <a:ext cx="1621054" cy="272013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26Y </a:t>
            </a:r>
            <a:r>
              <a:rPr lang="zh-CN" altLang="en-US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优化落地</a:t>
            </a:r>
            <a:endParaRPr lang="zh-CN" alt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2211604" y="6277331"/>
            <a:ext cx="1621054" cy="27201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27~28Y </a:t>
            </a:r>
            <a:r>
              <a:rPr lang="zh-CN" altLang="en-US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特性预埋</a:t>
            </a:r>
            <a:endParaRPr lang="zh-CN" alt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86603" y="1075817"/>
            <a:ext cx="5711588" cy="5064633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69900" y="1565860"/>
            <a:ext cx="5353050" cy="1149515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内存负载建模仿真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69900" y="2891880"/>
            <a:ext cx="5353050" cy="1745836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内存系统建模仿真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76252" y="4812956"/>
            <a:ext cx="5353050" cy="1086194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内存架构建模仿真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17613" y="1129702"/>
            <a:ext cx="4169389" cy="350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内存负载建模与系统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架构联合仿真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90550" y="1942866"/>
            <a:ext cx="1621054" cy="307662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匿名页内存冷热建模</a:t>
            </a:r>
            <a:endParaRPr lang="zh-CN" alt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339073" y="1942866"/>
            <a:ext cx="1621054" cy="307662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文件页内存冷热建模</a:t>
            </a:r>
            <a:endParaRPr lang="zh-CN" alt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087596" y="1942866"/>
            <a:ext cx="1621054" cy="307662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DMA</a:t>
            </a:r>
            <a:r>
              <a:rPr lang="zh-CN" altLang="en-US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内存冷热建模</a:t>
            </a:r>
            <a:endParaRPr lang="en-US" altLang="zh-CN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90550" y="3278705"/>
            <a:ext cx="5118100" cy="870279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内存回收机制建模仿真</a:t>
            </a:r>
            <a:endParaRPr lang="en-US" altLang="zh-CN" sz="11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11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3178962" y="5149671"/>
            <a:ext cx="2529688" cy="27801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多级 </a:t>
            </a:r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 </a:t>
            </a:r>
            <a:r>
              <a:rPr lang="zh-CN" altLang="en-US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建模仿真</a:t>
            </a:r>
            <a:endParaRPr lang="zh-CN" alt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81812" y="5149670"/>
            <a:ext cx="2529688" cy="27801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SMMU </a:t>
            </a:r>
            <a:r>
              <a:rPr lang="zh-CN" altLang="en-US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 </a:t>
            </a:r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NOC </a:t>
            </a:r>
            <a:r>
              <a:rPr lang="zh-CN" altLang="en-US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互联架构建模仿真</a:t>
            </a:r>
            <a:endParaRPr lang="zh-CN" alt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3176347" y="5511537"/>
            <a:ext cx="2529687" cy="27064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PIM / UFS-NDP </a:t>
            </a:r>
            <a:r>
              <a:rPr lang="zh-CN" altLang="en-US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建模仿真</a:t>
            </a:r>
            <a:endParaRPr lang="zh-CN" alt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81812" y="2323550"/>
            <a:ext cx="5126838" cy="307662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 Based </a:t>
            </a:r>
            <a:r>
              <a:rPr lang="zh-CN" altLang="en-US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冗余内存溯源</a:t>
            </a:r>
            <a:endParaRPr lang="zh-CN" alt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88164" y="4223814"/>
            <a:ext cx="1666942" cy="291822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内存查杀机制建模仿真</a:t>
            </a:r>
            <a:endParaRPr lang="en-US" altLang="zh-CN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79449" y="3567772"/>
            <a:ext cx="2432051" cy="2240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负载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系统联合冷热建模</a:t>
            </a:r>
            <a:endParaRPr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3181350" y="3567772"/>
            <a:ext cx="2432051" cy="2240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MemCG 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回收机制建模仿真</a:t>
            </a:r>
            <a:endParaRPr lang="zh-CN" altLang="en-US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679449" y="3850389"/>
            <a:ext cx="2432051" cy="2240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主动扫描机制建模仿真</a:t>
            </a:r>
            <a:endParaRPr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3181350" y="3850389"/>
            <a:ext cx="2432051" cy="2240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LPDQ 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机制建模仿真</a:t>
            </a:r>
            <a:endParaRPr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2324569" y="4223813"/>
            <a:ext cx="1674731" cy="2918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KVCache</a:t>
            </a:r>
            <a:r>
              <a:rPr lang="zh-CN" altLang="en-US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管理建模仿真</a:t>
            </a:r>
            <a:endParaRPr lang="en-US" altLang="zh-CN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4060757" y="4223813"/>
            <a:ext cx="1647893" cy="291822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 </a:t>
            </a:r>
            <a:r>
              <a:rPr lang="zh-CN" altLang="en-US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机制建模仿真</a:t>
            </a:r>
            <a:endParaRPr lang="en-US" altLang="zh-CN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580375" y="5503052"/>
            <a:ext cx="2529688" cy="27801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压缩 </a:t>
            </a:r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 </a:t>
            </a:r>
            <a:r>
              <a:rPr lang="zh-CN" altLang="en-US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建模仿真</a:t>
            </a:r>
            <a:endParaRPr lang="zh-CN" alt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6349132" y="1075816"/>
            <a:ext cx="5525368" cy="5064633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439660" y="1197892"/>
            <a:ext cx="5337503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内存负载建模仿真：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1" indent="-171450"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冷热建模：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构建内存页访问判别能力，场景化负载内存冷热建模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1" indent="-171450"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冗余定位：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构建内存分析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，应用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服务冗余内存精准溯源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内存系统建模仿真：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1" indent="-171450"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内存回收：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建立场景化回收策略参数空间模型，系统吞吐约束下，优化系统内存利用率，导出换入换出最佳时机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1" indent="-171450"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内存查杀：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构建内存负载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后台查杀映射，导出最优保活方案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1" indent="-171450"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内存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存储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IO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IO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时延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功耗</a:t>
            </a:r>
            <a: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联合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建模，落盘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写回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加载优化策略导出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1" indent="-171450"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KV Cache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构建大模型推理缓存与系统内存的竞争模型，推导性能无损的协同调度方案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内存架构建模仿真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1" indent="-171450"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多级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架构：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容量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性能建模仿真，多层级最优容量配置方案导出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1" indent="-171450"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片上互联架构：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构建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SMMU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与片上网络的地址转换及缺页服务模型，标定按需映射的性能边界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1" indent="-171450"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压缩 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架构：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建立压缩引擎的边际收益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成本模型，推导负载自适应的动态压缩调节策略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1" indent="-171450"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PIM/UFS-NDP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架构：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构建近存计算与近存处理的任务卸载模型，推导数据局部性最优的计算方案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239814" y="6241567"/>
            <a:ext cx="56655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i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负载</a:t>
            </a:r>
            <a:r>
              <a:rPr lang="en-US" altLang="zh-CN" sz="1400" i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i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系统联合建模放在系统层，系统</a:t>
            </a:r>
            <a:r>
              <a:rPr lang="en-US" altLang="zh-CN" sz="1400" i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i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架构联合仿真放在架构层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93343" y="197893"/>
            <a:ext cx="53062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内存领域系统建模仿真业务规划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07075" y="880282"/>
            <a:ext cx="1020075" cy="1131779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内存负载</a:t>
            </a:r>
            <a:endParaRPr lang="en-US" altLang="zh-CN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建模仿真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07075" y="2271721"/>
            <a:ext cx="1020075" cy="2258702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内存系统</a:t>
            </a:r>
            <a:endParaRPr lang="en-US" altLang="zh-CN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建模仿真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07075" y="4829169"/>
            <a:ext cx="1020075" cy="1564807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内存架构</a:t>
            </a:r>
            <a:endParaRPr lang="en-US" altLang="zh-CN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建模仿真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1471377" y="880283"/>
            <a:ext cx="10413547" cy="1131779"/>
          </a:xfrm>
          <a:prstGeom prst="roundRect">
            <a:avLst>
              <a:gd name="adj" fmla="val 9986"/>
            </a:avLst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: 圆角 22"/>
          <p:cNvSpPr/>
          <p:nvPr/>
        </p:nvSpPr>
        <p:spPr>
          <a:xfrm>
            <a:off x="1471376" y="2271721"/>
            <a:ext cx="3403231" cy="2334785"/>
          </a:xfrm>
          <a:prstGeom prst="roundRect">
            <a:avLst>
              <a:gd name="adj" fmla="val 7127"/>
            </a:avLst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: 圆角 24"/>
          <p:cNvSpPr/>
          <p:nvPr/>
        </p:nvSpPr>
        <p:spPr>
          <a:xfrm>
            <a:off x="5016811" y="2269296"/>
            <a:ext cx="2072700" cy="2337211"/>
          </a:xfrm>
          <a:prstGeom prst="roundRect">
            <a:avLst>
              <a:gd name="adj" fmla="val 7933"/>
            </a:avLst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: 圆角 26"/>
          <p:cNvSpPr/>
          <p:nvPr/>
        </p:nvSpPr>
        <p:spPr>
          <a:xfrm>
            <a:off x="7231714" y="3474728"/>
            <a:ext cx="4666933" cy="1131779"/>
          </a:xfrm>
          <a:prstGeom prst="roundRect">
            <a:avLst>
              <a:gd name="adj" fmla="val 12826"/>
            </a:avLst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: 圆角 28"/>
          <p:cNvSpPr/>
          <p:nvPr/>
        </p:nvSpPr>
        <p:spPr>
          <a:xfrm>
            <a:off x="1471378" y="4829175"/>
            <a:ext cx="2595798" cy="1564796"/>
          </a:xfrm>
          <a:prstGeom prst="roundRect">
            <a:avLst>
              <a:gd name="adj" fmla="val 11093"/>
            </a:avLst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: 圆角 30"/>
          <p:cNvSpPr/>
          <p:nvPr/>
        </p:nvSpPr>
        <p:spPr>
          <a:xfrm>
            <a:off x="4211404" y="4829174"/>
            <a:ext cx="2530474" cy="1564801"/>
          </a:xfrm>
          <a:prstGeom prst="roundRect">
            <a:avLst>
              <a:gd name="adj" fmla="val 8457"/>
            </a:avLst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: 圆角 32"/>
          <p:cNvSpPr/>
          <p:nvPr/>
        </p:nvSpPr>
        <p:spPr>
          <a:xfrm>
            <a:off x="9462824" y="4829169"/>
            <a:ext cx="2422100" cy="1564802"/>
          </a:xfrm>
          <a:prstGeom prst="roundRect">
            <a:avLst>
              <a:gd name="adj" fmla="val 9210"/>
            </a:avLst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207393" y="935962"/>
            <a:ext cx="8449643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内存负载冷热建模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Aft>
                <a:spcPts val="600"/>
              </a:spcAft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针对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TOP3+6/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系统服务，构建场景化负载内存冷热分析与建模平台，通过精准打点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交叉映射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精准回溯，定位文件页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匿名页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/DMA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冗余内存业务归属，识别准确率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 85%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，支撑冗余内存降低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100M+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Aft>
                <a:spcPts val="1200"/>
              </a:spcAft>
            </a:pP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接口专家：朱爽、张硕</a:t>
            </a:r>
            <a:endParaRPr lang="en-US" altLang="zh-CN" sz="1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: 圆角 19"/>
          <p:cNvSpPr/>
          <p:nvPr/>
        </p:nvSpPr>
        <p:spPr>
          <a:xfrm>
            <a:off x="7231714" y="2269293"/>
            <a:ext cx="4666933" cy="1131779"/>
          </a:xfrm>
          <a:prstGeom prst="roundRect">
            <a:avLst>
              <a:gd name="adj" fmla="val 12357"/>
            </a:avLst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7217991" y="2332737"/>
            <a:ext cx="4666933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机制建模仿真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构建文件系统多路径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I/O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性能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功耗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内存代价模型，精度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85%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，支撑落盘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写回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加载优化策略导出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Aft>
                <a:spcPts val="1200"/>
              </a:spcAft>
            </a:pP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接口专家：辛桂珍、孔飞</a:t>
            </a:r>
            <a:endParaRPr lang="en-US" altLang="zh-CN" sz="1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1524405" y="2332737"/>
            <a:ext cx="3337095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内存回收机制建模仿真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场景化系统服务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前台应用关联建模，主动换出提高系统压缩量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100M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MemCG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回收代价建模，多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Group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回收水线自适应调整寻优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1200"/>
              </a:spcAft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LRU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冷热特征建模与机制仿真，缓冲队列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主动扫描构建，多元特征融合判定，优化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LRU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行为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5111157" y="2332737"/>
            <a:ext cx="1894661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内存查杀机制建模仿真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spcAft>
                <a:spcPts val="1200"/>
              </a:spcAft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内存查杀代价建模与机制仿真，识别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Top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应用内存变化对查杀行为影响，建模精度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&gt;85%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，支撑产品风险提前释放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spcAft>
                <a:spcPts val="1200"/>
              </a:spcAft>
            </a:pP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7315370" y="3525286"/>
            <a:ext cx="4472173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KVCache</a:t>
            </a:r>
            <a:r>
              <a:rPr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与记忆管理建模仿真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spcAft>
                <a:spcPts val="600"/>
              </a:spcAft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端侧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KV Cache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管理与记忆存储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记忆检索机制建模仿真，精度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85%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，支撑端侧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KV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与记忆规模承载边界导出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Aft>
                <a:spcPts val="1200"/>
              </a:spcAft>
            </a:pP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接口专家：贾永利、刘思超</a:t>
            </a:r>
            <a:endParaRPr lang="en-US" altLang="zh-CN" sz="1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1521474" y="4951623"/>
            <a:ext cx="252476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压缩 </a:t>
            </a:r>
            <a:r>
              <a:rPr lang="en-US" altLang="zh-CN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 </a:t>
            </a:r>
            <a:r>
              <a:rPr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建模仿真</a:t>
            </a:r>
            <a:endParaRPr lang="zh-CN" altLang="en-US" sz="12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1200"/>
              </a:spcAft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内存边际压缩量、压缩比与系统性能量化建模，精度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85%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，支撑压缩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选型评估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Aft>
                <a:spcPts val="1200"/>
              </a:spcAft>
            </a:pP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接口专家：辛桂珍、孔飞</a:t>
            </a:r>
            <a:endParaRPr lang="en-US" altLang="zh-CN" sz="1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4263355" y="4951623"/>
            <a:ext cx="247852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多级</a:t>
            </a:r>
            <a:r>
              <a:rPr lang="en-US" altLang="zh-CN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建模仿真</a:t>
            </a:r>
            <a:endParaRPr lang="zh-CN" altLang="en-US" sz="12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spcAft>
                <a:spcPts val="1200"/>
              </a:spcAft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MRAM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工艺特征，构建多级缓存容量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策略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性能仿真平台，支撑多层级最优容量配置方案导出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Aft>
                <a:spcPts val="1200"/>
              </a:spcAft>
            </a:pP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接口专家：</a:t>
            </a:r>
            <a:r>
              <a:rPr lang="en-US" altLang="zh-CN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XXXXXXX</a:t>
            </a:r>
            <a:endParaRPr lang="en-US" altLang="zh-CN" sz="1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矩形: 圆角 52"/>
          <p:cNvSpPr/>
          <p:nvPr/>
        </p:nvSpPr>
        <p:spPr>
          <a:xfrm>
            <a:off x="6859620" y="4829169"/>
            <a:ext cx="2485462" cy="1564801"/>
          </a:xfrm>
          <a:prstGeom prst="roundRect">
            <a:avLst>
              <a:gd name="adj" fmla="val 8457"/>
            </a:avLst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6866560" y="4951623"/>
            <a:ext cx="247852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片上互联</a:t>
            </a:r>
            <a:r>
              <a:rPr lang="en-US" altLang="zh-CN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+SMMU</a:t>
            </a:r>
            <a:r>
              <a:rPr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建模仿真</a:t>
            </a:r>
            <a:endParaRPr lang="zh-CN" altLang="en-US" sz="12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algn="just">
              <a:spcAft>
                <a:spcPts val="1200"/>
              </a:spcAft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NOC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片上网络、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SMMU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页表管理与缺页服务机制建模仿真，支撑多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物理内存管理策略导出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Aft>
                <a:spcPts val="1200"/>
              </a:spcAft>
            </a:pP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接口专家：</a:t>
            </a:r>
            <a:r>
              <a:rPr lang="en-US" altLang="zh-CN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XXXXXXXXXXX</a:t>
            </a:r>
            <a:endParaRPr lang="en-US" altLang="zh-CN" sz="1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9471472" y="4951131"/>
            <a:ext cx="24221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UFS-PE/PIM</a:t>
            </a:r>
            <a:r>
              <a:rPr lang="zh-CN" altLang="en-US" sz="1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推理建模仿真</a:t>
            </a:r>
            <a:endParaRPr lang="zh-CN" altLang="en-US" sz="12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1200"/>
              </a:spcAft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三方应用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/Native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系统服务，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XXXXXXX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Aft>
                <a:spcPts val="1200"/>
              </a:spcAft>
            </a:pP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接口专家：程柏、辛桂珍</a:t>
            </a:r>
            <a:endParaRPr lang="en-US" altLang="zh-CN" sz="1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1747915" y="4310116"/>
            <a:ext cx="28481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接口专家：辛桂珍、孔飞、朱爽、张硕</a:t>
            </a:r>
            <a:endParaRPr lang="en-US" altLang="zh-CN" sz="1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4424131" y="4310116"/>
            <a:ext cx="31718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接口专家：朱爽、张硕</a:t>
            </a:r>
            <a:endParaRPr lang="en-US" altLang="zh-CN" sz="1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9946214" y="5293399"/>
            <a:ext cx="1421643" cy="77351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FIXME</a:t>
            </a:r>
            <a:endParaRPr lang="zh-CN" altLang="en-US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979930" y="8864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339340"/>
            <a:ext cx="12192000" cy="8991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307080" y="2023593"/>
            <a:ext cx="6051657" cy="23688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当代负载</a:t>
            </a:r>
            <a:r>
              <a:rPr lang="en-US" altLang="zh-CN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系统联合优化</a:t>
            </a:r>
            <a:endParaRPr lang="en-US" altLang="zh-CN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下一代系统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架构协同设计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/>
          <p:cNvGrpSpPr/>
          <p:nvPr/>
        </p:nvGrpSpPr>
        <p:grpSpPr>
          <a:xfrm>
            <a:off x="85725" y="771526"/>
            <a:ext cx="8487115" cy="4705350"/>
            <a:chOff x="0" y="1266825"/>
            <a:chExt cx="9420226" cy="5222677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"/>
            <a:srcRect l="5535" t="10278" r="6384" b="18055"/>
            <a:stretch>
              <a:fillRect/>
            </a:stretch>
          </p:blipFill>
          <p:spPr>
            <a:xfrm>
              <a:off x="514350" y="1266825"/>
              <a:ext cx="8905876" cy="4914900"/>
            </a:xfrm>
            <a:prstGeom prst="rect">
              <a:avLst/>
            </a:prstGeom>
          </p:spPr>
        </p:pic>
        <p:sp>
          <p:nvSpPr>
            <p:cNvPr id="6" name="文本框 5"/>
            <p:cNvSpPr txBox="1"/>
            <p:nvPr/>
          </p:nvSpPr>
          <p:spPr>
            <a:xfrm>
              <a:off x="3886200" y="6181725"/>
              <a:ext cx="12763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年份 </a:t>
              </a: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低端机</a:t>
              </a: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0" y="3155752"/>
              <a:ext cx="587020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容</a:t>
              </a:r>
              <a:endPara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量</a:t>
              </a:r>
              <a:endPara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(GB)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704849" y="2369388"/>
              <a:ext cx="4158372" cy="5807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accent5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低端机内存容量</a:t>
              </a:r>
              <a:endParaRPr lang="en-US" altLang="zh-CN" sz="1400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400" b="1" dirty="0">
                  <a:solidFill>
                    <a:schemeClr val="accent5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受成本</a:t>
              </a:r>
              <a:r>
                <a:rPr lang="en-US" altLang="zh-CN" sz="1400" b="1" dirty="0">
                  <a:solidFill>
                    <a:schemeClr val="accent5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400" b="1" dirty="0">
                  <a:solidFill>
                    <a:schemeClr val="accent5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竞争力策略影响，</a:t>
              </a:r>
              <a:r>
                <a:rPr lang="en-US" altLang="zh-CN" sz="1400" b="1" dirty="0">
                  <a:solidFill>
                    <a:schemeClr val="accent5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26~27 </a:t>
              </a:r>
              <a:r>
                <a:rPr lang="zh-CN" altLang="en-US" sz="1400" b="1" dirty="0">
                  <a:solidFill>
                    <a:schemeClr val="accent5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回落至 </a:t>
              </a:r>
              <a:r>
                <a:rPr lang="en-US" altLang="zh-CN" sz="1400" b="1" dirty="0">
                  <a:solidFill>
                    <a:schemeClr val="accent5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6G</a:t>
              </a:r>
              <a:endParaRPr lang="zh-CN" altLang="en-US" sz="1400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704850" y="3632806"/>
              <a:ext cx="2868560" cy="5807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chemeClr val="accent2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TOP3+6</a:t>
              </a:r>
              <a:r>
                <a:rPr lang="zh-CN" altLang="en-US" sz="1400" b="1" dirty="0">
                  <a:solidFill>
                    <a:schemeClr val="accent2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</a:t>
              </a:r>
              <a:r>
                <a:rPr lang="en-US" altLang="zh-CN" sz="1400" b="1" dirty="0">
                  <a:solidFill>
                    <a:schemeClr val="accent2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P50</a:t>
              </a:r>
              <a:r>
                <a:rPr lang="zh-CN" altLang="en-US" sz="1400" b="1" dirty="0">
                  <a:solidFill>
                    <a:schemeClr val="accent2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内存水位</a:t>
              </a:r>
              <a:endParaRPr lang="en-US" altLang="zh-CN" sz="14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400" b="1" dirty="0">
                  <a:solidFill>
                    <a:schemeClr val="accent2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保持逐年 </a:t>
              </a:r>
              <a:r>
                <a:rPr lang="en-US" altLang="zh-CN" sz="1400" b="1" dirty="0">
                  <a:solidFill>
                    <a:schemeClr val="accent2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13% </a:t>
              </a:r>
              <a:r>
                <a:rPr lang="zh-CN" altLang="en-US" sz="1400" b="1" dirty="0">
                  <a:solidFill>
                    <a:schemeClr val="accent2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增速</a:t>
              </a:r>
              <a:endParaRPr lang="zh-CN" altLang="en-US" sz="14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704848" y="4975831"/>
              <a:ext cx="3181350" cy="5807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accent6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系统预留</a:t>
              </a:r>
              <a:r>
                <a:rPr lang="en-US" altLang="zh-CN" sz="1400" b="1" dirty="0">
                  <a:solidFill>
                    <a:schemeClr val="accent6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+</a:t>
              </a:r>
              <a:r>
                <a:rPr lang="zh-CN" altLang="en-US" sz="1400" b="1" dirty="0">
                  <a:solidFill>
                    <a:schemeClr val="accent6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内核</a:t>
              </a:r>
              <a:r>
                <a:rPr lang="en-US" altLang="zh-CN" sz="1400" b="1" dirty="0">
                  <a:solidFill>
                    <a:schemeClr val="accent6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+</a:t>
              </a:r>
              <a:r>
                <a:rPr lang="zh-CN" altLang="en-US" sz="1400" b="1" dirty="0">
                  <a:solidFill>
                    <a:schemeClr val="accent6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系统服务</a:t>
              </a:r>
              <a:endPara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400" b="1" dirty="0">
                  <a:solidFill>
                    <a:schemeClr val="accent6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26~27</a:t>
              </a:r>
              <a:r>
                <a:rPr lang="zh-CN" altLang="en-US" sz="1400" b="1" dirty="0">
                  <a:solidFill>
                    <a:schemeClr val="accent6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精准裁剪实现</a:t>
              </a:r>
              <a:r>
                <a:rPr lang="en-US" altLang="zh-CN" sz="1400" b="1" dirty="0">
                  <a:solidFill>
                    <a:schemeClr val="accent6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&gt;0.8G</a:t>
              </a:r>
              <a:r>
                <a:rPr lang="zh-CN" altLang="en-US" sz="1400" b="1" dirty="0">
                  <a:solidFill>
                    <a:schemeClr val="accent6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瘦身</a:t>
              </a:r>
              <a:endParaRPr lang="zh-CN" altLang="en-US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5487730" y="2264987"/>
              <a:ext cx="3932496" cy="5807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2026</a:t>
              </a:r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开始，综合内存需求</a:t>
              </a:r>
              <a:r>
                <a:rPr lang="en-US" altLang="zh-CN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&gt;</a:t>
              </a:r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硬件内存供给</a:t>
              </a:r>
              <a:endPara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容量赤字导致整机 </a:t>
              </a:r>
              <a:r>
                <a:rPr lang="en-US" altLang="zh-CN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NSS </a:t>
              </a:r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劣化</a:t>
              </a:r>
              <a:endPara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8" name="直接箭头连接符 17"/>
            <p:cNvCxnSpPr/>
            <p:nvPr/>
          </p:nvCxnSpPr>
          <p:spPr>
            <a:xfrm flipV="1">
              <a:off x="6096000" y="2788207"/>
              <a:ext cx="390525" cy="459818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文本框 20"/>
            <p:cNvSpPr txBox="1"/>
            <p:nvPr/>
          </p:nvSpPr>
          <p:spPr>
            <a:xfrm>
              <a:off x="5668704" y="1488907"/>
              <a:ext cx="200247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solidFill>
                    <a:srgbClr val="B8B78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外推部分，</a:t>
              </a:r>
              <a:r>
                <a:rPr lang="en-US" altLang="zh-CN" sz="1200" dirty="0">
                  <a:solidFill>
                    <a:srgbClr val="B8B78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2026.07~2028</a:t>
              </a:r>
              <a:endParaRPr lang="zh-CN" altLang="en-US" sz="1200" dirty="0">
                <a:solidFill>
                  <a:srgbClr val="B8B787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4" name="文本框 23"/>
          <p:cNvSpPr txBox="1"/>
          <p:nvPr/>
        </p:nvSpPr>
        <p:spPr>
          <a:xfrm>
            <a:off x="193343" y="197893"/>
            <a:ext cx="1180531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负载持续增长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内存容量受限，对系统的流畅提出了严峻挑战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14596" y="5357876"/>
            <a:ext cx="10177227" cy="1137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两大特征：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基础负载持续增长：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应用工作集逐年抬升，基础内存需求刚性增长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治理空间趋近饱和：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缺乏压缩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分摊负载，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常规压缩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查杀空间趋近饱和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，治理边际效益递减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943975" y="1125683"/>
            <a:ext cx="16608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宏观</a:t>
            </a:r>
            <a:r>
              <a:rPr lang="en-US" altLang="zh-CN" dirty="0"/>
              <a:t>-NSS+</a:t>
            </a:r>
            <a:r>
              <a:rPr lang="zh-CN" altLang="en-US" dirty="0"/>
              <a:t>丢帧数据：</a:t>
            </a:r>
            <a:endParaRPr lang="zh-CN" altLang="en-US" dirty="0"/>
          </a:p>
        </p:txBody>
      </p:sp>
      <p:sp>
        <p:nvSpPr>
          <p:cNvPr id="29" name="文本框 28"/>
          <p:cNvSpPr txBox="1"/>
          <p:nvPr/>
        </p:nvSpPr>
        <p:spPr>
          <a:xfrm>
            <a:off x="8982075" y="3226150"/>
            <a:ext cx="16608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微观</a:t>
            </a:r>
            <a:r>
              <a:rPr lang="en-US" altLang="zh-CN" dirty="0"/>
              <a:t>-</a:t>
            </a:r>
            <a:r>
              <a:rPr lang="zh-CN" altLang="en-US" dirty="0"/>
              <a:t>系统 </a:t>
            </a:r>
            <a:r>
              <a:rPr lang="en-US" altLang="zh-CN" dirty="0" err="1"/>
              <a:t>refault</a:t>
            </a:r>
            <a:r>
              <a:rPr lang="en-US" altLang="zh-CN" dirty="0"/>
              <a:t> </a:t>
            </a:r>
            <a:r>
              <a:rPr lang="zh-CN" altLang="en-US" dirty="0"/>
              <a:t>数据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93343" y="197893"/>
            <a:ext cx="118053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负载系统联合建模仿真，基于场景化特征优化冷热识别，支撑系统内存高效流转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2683774" y="721227"/>
            <a:ext cx="1428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应对措施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3" name="组合 62"/>
          <p:cNvGrpSpPr/>
          <p:nvPr/>
        </p:nvGrpSpPr>
        <p:grpSpPr>
          <a:xfrm>
            <a:off x="2244725" y="1070477"/>
            <a:ext cx="7091045" cy="5076323"/>
            <a:chOff x="634" y="1508"/>
            <a:chExt cx="11965" cy="8010"/>
          </a:xfrm>
        </p:grpSpPr>
        <p:grpSp>
          <p:nvGrpSpPr>
            <p:cNvPr id="57" name="组合 56"/>
            <p:cNvGrpSpPr/>
            <p:nvPr/>
          </p:nvGrpSpPr>
          <p:grpSpPr>
            <a:xfrm>
              <a:off x="923" y="4690"/>
              <a:ext cx="2803" cy="3174"/>
              <a:chOff x="-255" y="4404"/>
              <a:chExt cx="2923" cy="2640"/>
            </a:xfrm>
          </p:grpSpPr>
          <p:sp>
            <p:nvSpPr>
              <p:cNvPr id="22" name="矩形 21"/>
              <p:cNvSpPr/>
              <p:nvPr/>
            </p:nvSpPr>
            <p:spPr>
              <a:xfrm>
                <a:off x="-255" y="4405"/>
                <a:ext cx="1647" cy="525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申请</a:t>
                </a:r>
                <a:r>
                  <a:rPr lang="en-US" altLang="zh-CN" sz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</a:t>
                </a:r>
                <a:r>
                  <a:rPr lang="zh-CN" altLang="en-US" sz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释放</a:t>
                </a:r>
                <a:endPara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" name="矩形 23"/>
              <p:cNvSpPr/>
              <p:nvPr/>
            </p:nvSpPr>
            <p:spPr>
              <a:xfrm>
                <a:off x="-255" y="5117"/>
                <a:ext cx="1647" cy="525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缺页</a:t>
                </a:r>
                <a:r>
                  <a:rPr lang="zh-CN" altLang="en-US" sz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管理</a:t>
                </a:r>
                <a:endPara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" name="矩形 24"/>
              <p:cNvSpPr/>
              <p:nvPr/>
            </p:nvSpPr>
            <p:spPr>
              <a:xfrm>
                <a:off x="-255" y="5829"/>
                <a:ext cx="1646" cy="525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VMA</a:t>
                </a:r>
                <a:r>
                  <a:rPr lang="zh-CN" altLang="en-US" sz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管理</a:t>
                </a:r>
                <a:endPara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" name="矩形 25"/>
              <p:cNvSpPr/>
              <p:nvPr/>
            </p:nvSpPr>
            <p:spPr>
              <a:xfrm>
                <a:off x="-255" y="6520"/>
                <a:ext cx="1647" cy="525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页表管理</a:t>
                </a:r>
                <a:endPara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" name="矩形 27"/>
              <p:cNvSpPr/>
              <p:nvPr/>
            </p:nvSpPr>
            <p:spPr>
              <a:xfrm>
                <a:off x="1526" y="4404"/>
                <a:ext cx="1143" cy="263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内存</a:t>
                </a:r>
                <a:endPara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zh-CN" altLang="en-US" sz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查杀</a:t>
                </a:r>
                <a:endPara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0" name="矩形 29"/>
            <p:cNvSpPr/>
            <p:nvPr/>
          </p:nvSpPr>
          <p:spPr>
            <a:xfrm>
              <a:off x="9128" y="8810"/>
              <a:ext cx="3299" cy="52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文件系统</a:t>
              </a:r>
              <a:endPara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5596" y="8810"/>
              <a:ext cx="3416" cy="52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ZRAM</a:t>
              </a:r>
              <a:endPara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3916" y="4688"/>
              <a:ext cx="8511" cy="317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内存</a:t>
              </a:r>
              <a:r>
                <a:rPr lang="zh-CN" altLang="en-US" sz="12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回收</a:t>
              </a:r>
              <a:endPara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4063" y="3512"/>
              <a:ext cx="1415" cy="52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DMA</a:t>
              </a:r>
              <a:endPara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矩形 38"/>
            <p:cNvSpPr/>
            <p:nvPr/>
          </p:nvSpPr>
          <p:spPr>
            <a:xfrm>
              <a:off x="5596" y="3512"/>
              <a:ext cx="3418" cy="52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匿名页</a:t>
              </a:r>
              <a:endPara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矩形 39"/>
            <p:cNvSpPr/>
            <p:nvPr/>
          </p:nvSpPr>
          <p:spPr>
            <a:xfrm>
              <a:off x="9132" y="3512"/>
              <a:ext cx="3142" cy="52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文件页</a:t>
              </a:r>
              <a:endPara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55" name="组合 54"/>
            <p:cNvGrpSpPr/>
            <p:nvPr/>
          </p:nvGrpSpPr>
          <p:grpSpPr>
            <a:xfrm>
              <a:off x="4063" y="5245"/>
              <a:ext cx="8212" cy="2457"/>
              <a:chOff x="3352" y="7183"/>
              <a:chExt cx="8213" cy="2647"/>
            </a:xfrm>
          </p:grpSpPr>
          <p:sp>
            <p:nvSpPr>
              <p:cNvPr id="27" name="矩形 26"/>
              <p:cNvSpPr/>
              <p:nvPr/>
            </p:nvSpPr>
            <p:spPr>
              <a:xfrm>
                <a:off x="4885" y="7191"/>
                <a:ext cx="3418" cy="898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MemCG</a:t>
                </a:r>
                <a:endParaRPr lang="en-US" altLang="zh-CN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endParaRPr lang="en-US" altLang="zh-CN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" name="矩形 28"/>
              <p:cNvSpPr/>
              <p:nvPr/>
            </p:nvSpPr>
            <p:spPr>
              <a:xfrm>
                <a:off x="4885" y="8210"/>
                <a:ext cx="3419" cy="162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CG </a:t>
                </a:r>
                <a:r>
                  <a:rPr lang="zh-CN" altLang="en-US" sz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匿名页</a:t>
                </a:r>
                <a:r>
                  <a:rPr lang="en-US" altLang="zh-CN" sz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LRU</a:t>
                </a:r>
                <a:endParaRPr lang="en-US" altLang="zh-CN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endParaRPr lang="en-US" altLang="zh-CN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endParaRPr lang="en-US" altLang="zh-CN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endParaRPr lang="en-US" altLang="zh-CN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" name="矩形 32"/>
              <p:cNvSpPr/>
              <p:nvPr/>
            </p:nvSpPr>
            <p:spPr>
              <a:xfrm>
                <a:off x="8418" y="7183"/>
                <a:ext cx="3147" cy="2647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Page Cache</a:t>
                </a:r>
                <a:endParaRPr lang="en-US" altLang="zh-CN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1" name="矩形 40"/>
              <p:cNvSpPr/>
              <p:nvPr/>
            </p:nvSpPr>
            <p:spPr>
              <a:xfrm>
                <a:off x="3352" y="7191"/>
                <a:ext cx="1415" cy="263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Shrinker</a:t>
                </a:r>
                <a:endParaRPr lang="en-US" altLang="zh-CN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8" name="组合 57"/>
            <p:cNvGrpSpPr/>
            <p:nvPr/>
          </p:nvGrpSpPr>
          <p:grpSpPr>
            <a:xfrm>
              <a:off x="634" y="1687"/>
              <a:ext cx="11661" cy="1257"/>
              <a:chOff x="1993" y="1687"/>
              <a:chExt cx="10302" cy="1257"/>
            </a:xfrm>
          </p:grpSpPr>
          <p:sp>
            <p:nvSpPr>
              <p:cNvPr id="3" name="矩形 2"/>
              <p:cNvSpPr/>
              <p:nvPr/>
            </p:nvSpPr>
            <p:spPr>
              <a:xfrm>
                <a:off x="3490" y="1693"/>
                <a:ext cx="1647" cy="525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相机</a:t>
                </a:r>
                <a:endPara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5242" y="1693"/>
                <a:ext cx="1647" cy="525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图库</a:t>
                </a:r>
                <a:endPara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" name="矩形 7"/>
              <p:cNvSpPr/>
              <p:nvPr/>
            </p:nvSpPr>
            <p:spPr>
              <a:xfrm>
                <a:off x="7007" y="1693"/>
                <a:ext cx="1734" cy="525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微信</a:t>
                </a:r>
                <a:endPara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8854" y="1693"/>
                <a:ext cx="1414" cy="525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支付宝</a:t>
                </a:r>
                <a:endPara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11720" y="1693"/>
                <a:ext cx="575" cy="525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...</a:t>
                </a:r>
                <a:endParaRPr lang="en-US" altLang="zh-CN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3492" y="2418"/>
                <a:ext cx="1647" cy="525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大桌面</a:t>
                </a:r>
                <a:endPara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5242" y="2418"/>
                <a:ext cx="2191" cy="525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统一渲染服务</a:t>
                </a:r>
                <a:endPara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7536" y="2418"/>
                <a:ext cx="1352" cy="525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输入法</a:t>
                </a:r>
                <a:endPara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" name="矩形 19"/>
              <p:cNvSpPr/>
              <p:nvPr/>
            </p:nvSpPr>
            <p:spPr>
              <a:xfrm>
                <a:off x="9003" y="2418"/>
                <a:ext cx="2606" cy="525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Camera Daemon</a:t>
                </a:r>
                <a:endParaRPr lang="en-US" altLang="zh-CN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" name="矩形 20"/>
              <p:cNvSpPr/>
              <p:nvPr/>
            </p:nvSpPr>
            <p:spPr>
              <a:xfrm>
                <a:off x="11713" y="2418"/>
                <a:ext cx="574" cy="525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...</a:t>
                </a:r>
                <a:endParaRPr lang="en-US" altLang="zh-CN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1993" y="1784"/>
                <a:ext cx="1497" cy="4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200">
                    <a:latin typeface="微软雅黑" charset="0"/>
                    <a:ea typeface="微软雅黑" charset="0"/>
                    <a:cs typeface="微软" charset="0"/>
                  </a:rPr>
                  <a:t>TOP APP</a:t>
                </a:r>
                <a:endParaRPr lang="en-US" altLang="zh-CN" sz="1200">
                  <a:latin typeface="微软雅黑" charset="0"/>
                  <a:ea typeface="微软雅黑" charset="0"/>
                  <a:cs typeface="微软" charset="0"/>
                </a:endParaRPr>
              </a:p>
            </p:txBody>
          </p:sp>
          <p:sp>
            <p:nvSpPr>
              <p:cNvPr id="49" name="文本框 48"/>
              <p:cNvSpPr txBox="1"/>
              <p:nvPr/>
            </p:nvSpPr>
            <p:spPr>
              <a:xfrm>
                <a:off x="1993" y="2509"/>
                <a:ext cx="1497" cy="4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1200">
                    <a:latin typeface="微软雅黑" charset="0"/>
                    <a:ea typeface="微软雅黑" charset="0"/>
                    <a:cs typeface="微软" charset="0"/>
                  </a:rPr>
                  <a:t>系统服务</a:t>
                </a:r>
                <a:endParaRPr lang="zh-CN" altLang="en-US" sz="1200">
                  <a:latin typeface="微软雅黑" charset="0"/>
                  <a:ea typeface="微软雅黑" charset="0"/>
                  <a:cs typeface="微软" charset="0"/>
                </a:endParaRPr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10381" y="1687"/>
                <a:ext cx="1237" cy="525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京东</a:t>
                </a:r>
                <a:endPara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51" name="直接连接符 50"/>
              <p:cNvCxnSpPr/>
              <p:nvPr/>
            </p:nvCxnSpPr>
            <p:spPr>
              <a:xfrm>
                <a:off x="2206" y="2318"/>
                <a:ext cx="10068" cy="0"/>
              </a:xfrm>
              <a:prstGeom prst="line">
                <a:avLst/>
              </a:prstGeom>
              <a:ln w="6350" cap="flat" cmpd="sng" algn="ctr">
                <a:solidFill>
                  <a:schemeClr val="tx1"/>
                </a:solidFill>
                <a:prstDash val="dash"/>
                <a:miter lim="800000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52" name="矩形: 圆角 14"/>
            <p:cNvSpPr/>
            <p:nvPr/>
          </p:nvSpPr>
          <p:spPr>
            <a:xfrm>
              <a:off x="634" y="1508"/>
              <a:ext cx="11965" cy="2733"/>
            </a:xfrm>
            <a:prstGeom prst="roundRect">
              <a:avLst>
                <a:gd name="adj" fmla="val 9986"/>
              </a:avLst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矩形 55"/>
            <p:cNvSpPr/>
            <p:nvPr/>
          </p:nvSpPr>
          <p:spPr>
            <a:xfrm>
              <a:off x="924" y="8090"/>
              <a:ext cx="11504" cy="488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system buddy</a:t>
              </a:r>
              <a:endPara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矩形: 圆角 14"/>
            <p:cNvSpPr/>
            <p:nvPr/>
          </p:nvSpPr>
          <p:spPr>
            <a:xfrm>
              <a:off x="634" y="4456"/>
              <a:ext cx="11965" cy="5062"/>
            </a:xfrm>
            <a:prstGeom prst="roundRect">
              <a:avLst>
                <a:gd name="adj" fmla="val 5748"/>
              </a:avLst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4" name="文本框 63"/>
          <p:cNvSpPr txBox="1"/>
          <p:nvPr/>
        </p:nvSpPr>
        <p:spPr>
          <a:xfrm>
            <a:off x="1567815" y="1414145"/>
            <a:ext cx="5010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latin typeface="微软雅黑" charset="0"/>
                <a:ea typeface="微软雅黑" charset="0"/>
                <a:cs typeface="微软" charset="0"/>
              </a:rPr>
              <a:t>负</a:t>
            </a:r>
            <a:endParaRPr lang="zh-CN" altLang="en-US" b="1">
              <a:latin typeface="微软雅黑" charset="0"/>
              <a:ea typeface="微软雅黑" charset="0"/>
              <a:cs typeface="微软" charset="0"/>
            </a:endParaRPr>
          </a:p>
          <a:p>
            <a:pPr algn="ctr"/>
            <a:r>
              <a:rPr lang="zh-CN" altLang="en-US" b="1">
                <a:latin typeface="微软雅黑" charset="0"/>
                <a:ea typeface="微软雅黑" charset="0"/>
                <a:cs typeface="微软" charset="0"/>
              </a:rPr>
              <a:t>载</a:t>
            </a:r>
            <a:endParaRPr lang="zh-CN" altLang="en-US" b="1">
              <a:latin typeface="微软雅黑" charset="0"/>
              <a:ea typeface="微软雅黑" charset="0"/>
              <a:cs typeface="微软" charset="0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1567815" y="4085590"/>
            <a:ext cx="5010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latin typeface="微软雅黑" charset="0"/>
                <a:ea typeface="微软雅黑" charset="0"/>
                <a:cs typeface="微软" charset="0"/>
              </a:rPr>
              <a:t>系统</a:t>
            </a:r>
            <a:endParaRPr lang="zh-CN" altLang="en-US" b="1">
              <a:latin typeface="微软雅黑" charset="0"/>
              <a:ea typeface="微软雅黑" charset="0"/>
              <a:cs typeface="微软" charset="0"/>
            </a:endParaRPr>
          </a:p>
        </p:txBody>
      </p:sp>
      <p:sp>
        <p:nvSpPr>
          <p:cNvPr id="67" name="椭圆 66"/>
          <p:cNvSpPr/>
          <p:nvPr/>
        </p:nvSpPr>
        <p:spPr>
          <a:xfrm>
            <a:off x="10811510" y="2673350"/>
            <a:ext cx="245745" cy="24574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0"/>
          <a:p>
            <a:pPr algn="ctr"/>
            <a:r>
              <a:rPr lang="en-US" altLang="zh-CN" sz="1400">
                <a:latin typeface="微软雅黑" charset="0"/>
                <a:ea typeface="微软雅黑" charset="0"/>
              </a:rPr>
              <a:t>1</a:t>
            </a:r>
            <a:endParaRPr lang="en-US" altLang="zh-CN" sz="1400">
              <a:latin typeface="微软雅黑" charset="0"/>
              <a:ea typeface="微软雅黑" charset="0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609455" y="1289685"/>
            <a:ext cx="2303145" cy="11068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spcAft>
                <a:spcPts val="1200"/>
              </a:spcAft>
            </a:pPr>
            <a:r>
              <a:rPr lang="zh-CN" altLang="en-US" sz="1400" dirty="0">
                <a:solidFill>
                  <a:srgbClr val="0F1115"/>
                </a:solidFill>
                <a:effectLst/>
                <a:latin typeface="quote-cjk-patch"/>
                <a:sym typeface="+mn-ea"/>
              </a:rPr>
              <a:t>瓶颈</a:t>
            </a:r>
            <a:r>
              <a:rPr lang="en-US" altLang="zh-CN" sz="1400" dirty="0">
                <a:solidFill>
                  <a:srgbClr val="0F1115"/>
                </a:solidFill>
                <a:effectLst/>
                <a:latin typeface="quote-cjk-patch"/>
                <a:sym typeface="+mn-ea"/>
              </a:rPr>
              <a:t>1：</a:t>
            </a:r>
            <a:r>
              <a:rPr lang="zh-CN" altLang="zh-CN" sz="1400" dirty="0">
                <a:solidFill>
                  <a:srgbClr val="0F1115"/>
                </a:solidFill>
                <a:effectLst/>
                <a:latin typeface="quote-cjk-patch"/>
                <a:sym typeface="+mn-ea"/>
              </a:rPr>
              <a:t>负载内存利用率低下</a:t>
            </a:r>
            <a:r>
              <a:rPr lang="en-US" altLang="zh-CN" sz="1400" dirty="0">
                <a:solidFill>
                  <a:srgbClr val="0F1115"/>
                </a:solidFill>
                <a:effectLst/>
                <a:latin typeface="quote-cjk-patch"/>
                <a:sym typeface="+mn-ea"/>
              </a:rPr>
              <a:t>，</a:t>
            </a:r>
            <a:r>
              <a:rPr lang="zh-CN" altLang="en-US" sz="1400" dirty="0">
                <a:solidFill>
                  <a:srgbClr val="0F1115"/>
                </a:solidFill>
                <a:effectLst/>
                <a:latin typeface="quote-cjk-patch"/>
                <a:sym typeface="+mn-ea"/>
              </a:rPr>
              <a:t>场景化冗余内存多</a:t>
            </a:r>
            <a:endParaRPr lang="zh-CN" altLang="en-US" sz="1400" dirty="0">
              <a:solidFill>
                <a:srgbClr val="0F1115"/>
              </a:solidFill>
              <a:effectLst/>
              <a:latin typeface="quote-cjk-patch"/>
              <a:sym typeface="+mn-ea"/>
            </a:endParaRPr>
          </a:p>
          <a:p>
            <a:pPr indent="0" fontAlgn="auto">
              <a:spcAft>
                <a:spcPts val="1200"/>
              </a:spcAft>
            </a:pPr>
            <a:r>
              <a:rPr lang="zh-CN" altLang="zh-CN" sz="1400" dirty="0">
                <a:solidFill>
                  <a:srgbClr val="0F1115"/>
                </a:solidFill>
                <a:effectLst/>
                <a:latin typeface="quote-cjk-patch"/>
                <a:sym typeface="+mn-ea"/>
              </a:rPr>
              <a:t>措施</a:t>
            </a:r>
            <a:r>
              <a:rPr lang="en-US" altLang="zh-CN" sz="1400" dirty="0">
                <a:solidFill>
                  <a:srgbClr val="0F1115"/>
                </a:solidFill>
                <a:effectLst/>
                <a:latin typeface="quote-cjk-patch"/>
                <a:sym typeface="+mn-ea"/>
              </a:rPr>
              <a:t>1：</a:t>
            </a:r>
            <a:r>
              <a:rPr lang="zh-CN" altLang="en-US" sz="1400" dirty="0">
                <a:solidFill>
                  <a:srgbClr val="0F1115"/>
                </a:solidFill>
                <a:effectLst/>
                <a:latin typeface="quote-cjk-patch"/>
                <a:sym typeface="+mn-ea"/>
              </a:rPr>
              <a:t>冷热建模</a:t>
            </a:r>
            <a:r>
              <a:rPr lang="en-US" altLang="zh-CN" sz="1400" dirty="0">
                <a:solidFill>
                  <a:srgbClr val="0F1115"/>
                </a:solidFill>
                <a:effectLst/>
                <a:latin typeface="quote-cjk-patch"/>
                <a:sym typeface="+mn-ea"/>
              </a:rPr>
              <a:t>，</a:t>
            </a:r>
            <a:r>
              <a:rPr lang="zh-CN" altLang="en-US" sz="1400" dirty="0">
                <a:solidFill>
                  <a:srgbClr val="0F1115"/>
                </a:solidFill>
                <a:effectLst/>
                <a:latin typeface="quote-cjk-patch"/>
                <a:sym typeface="+mn-ea"/>
              </a:rPr>
              <a:t>精准定位溯源冗余内存业务归属</a:t>
            </a:r>
            <a:endParaRPr lang="zh-CN" altLang="en-US" sz="1400" dirty="0">
              <a:solidFill>
                <a:srgbClr val="0F1115"/>
              </a:solidFill>
              <a:effectLst/>
              <a:latin typeface="quote-cjk-patch"/>
              <a:sym typeface="+mn-ea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9609455" y="3363595"/>
            <a:ext cx="2303145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spcAft>
                <a:spcPts val="1200"/>
              </a:spcAft>
            </a:pPr>
            <a:r>
              <a:rPr lang="zh-CN" altLang="en-US" sz="1400" dirty="0">
                <a:solidFill>
                  <a:srgbClr val="0F1115"/>
                </a:solidFill>
                <a:effectLst/>
                <a:latin typeface="quote-cjk-patch"/>
                <a:sym typeface="+mn-ea"/>
              </a:rPr>
              <a:t>瓶颈</a:t>
            </a:r>
            <a:r>
              <a:rPr lang="en-US" altLang="zh-CN" sz="1400" dirty="0">
                <a:solidFill>
                  <a:srgbClr val="0F1115"/>
                </a:solidFill>
                <a:effectLst/>
                <a:latin typeface="quote-cjk-patch"/>
                <a:sym typeface="+mn-ea"/>
              </a:rPr>
              <a:t>2：</a:t>
            </a:r>
            <a:r>
              <a:rPr lang="zh-CN" altLang="zh-CN" sz="1400" dirty="0">
                <a:solidFill>
                  <a:srgbClr val="0F1115"/>
                </a:solidFill>
                <a:effectLst/>
                <a:latin typeface="quote-cjk-patch"/>
                <a:sym typeface="+mn-ea"/>
              </a:rPr>
              <a:t>系统服务内存常驻，缺乏主动</a:t>
            </a:r>
            <a:r>
              <a:rPr lang="zh-CN" altLang="zh-CN" sz="1400" dirty="0">
                <a:solidFill>
                  <a:srgbClr val="0F1115"/>
                </a:solidFill>
                <a:effectLst/>
                <a:latin typeface="quote-cjk-patch"/>
                <a:sym typeface="+mn-ea"/>
              </a:rPr>
              <a:t>回收机制</a:t>
            </a:r>
            <a:endParaRPr lang="zh-CN" altLang="en-US" sz="1400" dirty="0">
              <a:solidFill>
                <a:srgbClr val="0F1115"/>
              </a:solidFill>
              <a:effectLst/>
              <a:latin typeface="quote-cjk-patch"/>
              <a:sym typeface="+mn-ea"/>
            </a:endParaRPr>
          </a:p>
          <a:p>
            <a:pPr indent="0" fontAlgn="auto">
              <a:spcAft>
                <a:spcPts val="1200"/>
              </a:spcAft>
            </a:pPr>
            <a:r>
              <a:rPr lang="zh-CN" altLang="zh-CN" sz="1400" dirty="0">
                <a:solidFill>
                  <a:srgbClr val="0F1115"/>
                </a:solidFill>
                <a:effectLst/>
                <a:latin typeface="quote-cjk-patch"/>
                <a:sym typeface="+mn-ea"/>
              </a:rPr>
              <a:t>措施</a:t>
            </a:r>
            <a:r>
              <a:rPr lang="en-US" altLang="zh-CN" sz="1400" dirty="0">
                <a:solidFill>
                  <a:srgbClr val="0F1115"/>
                </a:solidFill>
                <a:effectLst/>
                <a:latin typeface="quote-cjk-patch"/>
                <a:sym typeface="+mn-ea"/>
              </a:rPr>
              <a:t>2：</a:t>
            </a:r>
            <a:r>
              <a:rPr lang="zh-CN" altLang="en-US" sz="1400" dirty="0">
                <a:solidFill>
                  <a:srgbClr val="0F1115"/>
                </a:solidFill>
                <a:effectLst/>
                <a:latin typeface="quote-cjk-patch"/>
                <a:sym typeface="+mn-ea"/>
              </a:rPr>
              <a:t>场景化前台应用</a:t>
            </a:r>
            <a:r>
              <a:rPr lang="en-US" altLang="zh-CN" sz="1400" dirty="0">
                <a:solidFill>
                  <a:srgbClr val="0F1115"/>
                </a:solidFill>
                <a:effectLst/>
                <a:latin typeface="quote-cjk-patch"/>
                <a:sym typeface="+mn-ea"/>
              </a:rPr>
              <a:t> &amp; </a:t>
            </a:r>
            <a:r>
              <a:rPr lang="zh-CN" altLang="en-US" sz="1400" dirty="0">
                <a:solidFill>
                  <a:srgbClr val="0F1115"/>
                </a:solidFill>
                <a:effectLst/>
                <a:latin typeface="quote-cjk-patch"/>
                <a:sym typeface="+mn-ea"/>
              </a:rPr>
              <a:t>系统服务冷热建模，内存交换最优策略</a:t>
            </a:r>
            <a:r>
              <a:rPr lang="zh-CN" altLang="en-US" sz="1400" dirty="0">
                <a:solidFill>
                  <a:srgbClr val="0F1115"/>
                </a:solidFill>
                <a:effectLst/>
                <a:latin typeface="quote-cjk-patch"/>
                <a:sym typeface="+mn-ea"/>
              </a:rPr>
              <a:t>导出</a:t>
            </a:r>
            <a:endParaRPr lang="zh-CN" altLang="en-US" sz="1400" dirty="0">
              <a:solidFill>
                <a:srgbClr val="0F1115"/>
              </a:solidFill>
              <a:effectLst/>
              <a:latin typeface="quote-cjk-patch"/>
              <a:sym typeface="+mn-ea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9457055" y="4938395"/>
            <a:ext cx="2303145" cy="1537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spcAft>
                <a:spcPts val="1200"/>
              </a:spcAft>
            </a:pPr>
            <a:r>
              <a:rPr lang="zh-CN" altLang="en-US" sz="1400" dirty="0">
                <a:solidFill>
                  <a:srgbClr val="0F1115"/>
                </a:solidFill>
                <a:effectLst/>
                <a:latin typeface="quote-cjk-patch"/>
                <a:sym typeface="+mn-ea"/>
              </a:rPr>
              <a:t>瓶颈</a:t>
            </a:r>
            <a:r>
              <a:rPr lang="en-US" altLang="zh-CN" sz="1400" dirty="0">
                <a:solidFill>
                  <a:srgbClr val="0F1115"/>
                </a:solidFill>
                <a:effectLst/>
                <a:latin typeface="quote-cjk-patch"/>
                <a:sym typeface="+mn-ea"/>
              </a:rPr>
              <a:t>3：</a:t>
            </a:r>
            <a:r>
              <a:rPr lang="zh-CN" altLang="en-US" sz="1400" dirty="0">
                <a:solidFill>
                  <a:srgbClr val="0F1115"/>
                </a:solidFill>
                <a:effectLst/>
                <a:latin typeface="quote-cjk-patch"/>
                <a:sym typeface="+mn-ea"/>
              </a:rPr>
              <a:t>被动回收缺乏水线管理</a:t>
            </a:r>
            <a:r>
              <a:rPr lang="en-US" altLang="zh-CN" sz="1400" dirty="0">
                <a:solidFill>
                  <a:srgbClr val="0F1115"/>
                </a:solidFill>
                <a:effectLst/>
                <a:latin typeface="quote-cjk-patch"/>
                <a:sym typeface="+mn-ea"/>
              </a:rPr>
              <a:t>，</a:t>
            </a:r>
            <a:r>
              <a:rPr lang="zh-CN" altLang="zh-CN" sz="1400" dirty="0">
                <a:solidFill>
                  <a:srgbClr val="0F1115"/>
                </a:solidFill>
                <a:effectLst/>
                <a:latin typeface="quote-cjk-patch"/>
                <a:sym typeface="+mn-ea"/>
              </a:rPr>
              <a:t>系统服务内存常驻，缺乏主动</a:t>
            </a:r>
            <a:r>
              <a:rPr lang="zh-CN" altLang="zh-CN" sz="1400" dirty="0">
                <a:solidFill>
                  <a:srgbClr val="0F1115"/>
                </a:solidFill>
                <a:effectLst/>
                <a:latin typeface="quote-cjk-patch"/>
                <a:sym typeface="+mn-ea"/>
              </a:rPr>
              <a:t>回收机制</a:t>
            </a:r>
            <a:endParaRPr lang="zh-CN" altLang="en-US" sz="1400" dirty="0">
              <a:solidFill>
                <a:srgbClr val="0F1115"/>
              </a:solidFill>
              <a:effectLst/>
              <a:latin typeface="quote-cjk-patch"/>
              <a:sym typeface="+mn-ea"/>
            </a:endParaRPr>
          </a:p>
          <a:p>
            <a:pPr indent="0" fontAlgn="auto">
              <a:spcAft>
                <a:spcPts val="1200"/>
              </a:spcAft>
            </a:pPr>
            <a:r>
              <a:rPr lang="zh-CN" altLang="zh-CN" sz="1400" dirty="0">
                <a:solidFill>
                  <a:srgbClr val="0F1115"/>
                </a:solidFill>
                <a:effectLst/>
                <a:latin typeface="quote-cjk-patch"/>
                <a:sym typeface="+mn-ea"/>
              </a:rPr>
              <a:t>措施</a:t>
            </a:r>
            <a:r>
              <a:rPr lang="en-US" altLang="zh-CN" sz="1400" dirty="0">
                <a:solidFill>
                  <a:srgbClr val="0F1115"/>
                </a:solidFill>
                <a:effectLst/>
                <a:latin typeface="quote-cjk-patch"/>
                <a:sym typeface="+mn-ea"/>
              </a:rPr>
              <a:t>3：MemCG </a:t>
            </a:r>
            <a:r>
              <a:rPr lang="zh-CN" altLang="en-US" sz="1400" dirty="0">
                <a:solidFill>
                  <a:srgbClr val="0F1115"/>
                </a:solidFill>
                <a:effectLst/>
                <a:latin typeface="quote-cjk-patch"/>
                <a:sym typeface="+mn-ea"/>
              </a:rPr>
              <a:t>场景化回收代价建模</a:t>
            </a:r>
            <a:r>
              <a:rPr lang="en-US" altLang="zh-CN" sz="1400" dirty="0">
                <a:solidFill>
                  <a:srgbClr val="0F1115"/>
                </a:solidFill>
                <a:effectLst/>
                <a:latin typeface="quote-cjk-patch"/>
                <a:sym typeface="+mn-ea"/>
              </a:rPr>
              <a:t>，</a:t>
            </a:r>
            <a:r>
              <a:rPr lang="zh-CN" altLang="en-US" sz="1400" dirty="0">
                <a:solidFill>
                  <a:srgbClr val="0F1115"/>
                </a:solidFill>
                <a:effectLst/>
                <a:latin typeface="quote-cjk-patch"/>
                <a:sym typeface="+mn-ea"/>
              </a:rPr>
              <a:t>自适应动态水线策略</a:t>
            </a:r>
            <a:r>
              <a:rPr lang="zh-CN" altLang="en-US" sz="1400" dirty="0">
                <a:solidFill>
                  <a:srgbClr val="0F1115"/>
                </a:solidFill>
                <a:effectLst/>
                <a:latin typeface="quote-cjk-patch"/>
                <a:sym typeface="+mn-ea"/>
              </a:rPr>
              <a:t>导出</a:t>
            </a:r>
            <a:endParaRPr lang="zh-CN" altLang="en-US" sz="1400" dirty="0">
              <a:solidFill>
                <a:srgbClr val="0F1115"/>
              </a:solidFill>
              <a:effectLst/>
              <a:latin typeface="quote-cjk-patch"/>
              <a:sym typeface="+mn-ea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862965" y="5241925"/>
            <a:ext cx="2303145" cy="1537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spcAft>
                <a:spcPts val="1200"/>
              </a:spcAft>
            </a:pPr>
            <a:r>
              <a:rPr lang="zh-CN" altLang="en-US" sz="1400" dirty="0">
                <a:solidFill>
                  <a:srgbClr val="0F1115"/>
                </a:solidFill>
                <a:effectLst/>
                <a:latin typeface="quote-cjk-patch"/>
                <a:sym typeface="+mn-ea"/>
              </a:rPr>
              <a:t>瓶颈</a:t>
            </a:r>
            <a:r>
              <a:rPr lang="en-US" altLang="zh-CN" sz="1400" dirty="0">
                <a:solidFill>
                  <a:srgbClr val="0F1115"/>
                </a:solidFill>
                <a:effectLst/>
                <a:latin typeface="quote-cjk-patch"/>
                <a:sym typeface="+mn-ea"/>
              </a:rPr>
              <a:t>4：</a:t>
            </a:r>
            <a:r>
              <a:rPr lang="zh-CN" altLang="en-US" sz="1400" dirty="0">
                <a:solidFill>
                  <a:srgbClr val="0F1115"/>
                </a:solidFill>
                <a:effectLst/>
                <a:latin typeface="quote-cjk-patch"/>
                <a:sym typeface="+mn-ea"/>
              </a:rPr>
              <a:t>被动回收缺乏水线管理</a:t>
            </a:r>
            <a:r>
              <a:rPr lang="en-US" altLang="zh-CN" sz="1400" dirty="0">
                <a:solidFill>
                  <a:srgbClr val="0F1115"/>
                </a:solidFill>
                <a:effectLst/>
                <a:latin typeface="quote-cjk-patch"/>
                <a:sym typeface="+mn-ea"/>
              </a:rPr>
              <a:t>，</a:t>
            </a:r>
            <a:r>
              <a:rPr lang="zh-CN" altLang="zh-CN" sz="1400" dirty="0">
                <a:solidFill>
                  <a:srgbClr val="0F1115"/>
                </a:solidFill>
                <a:effectLst/>
                <a:latin typeface="quote-cjk-patch"/>
                <a:sym typeface="+mn-ea"/>
              </a:rPr>
              <a:t>系统服务内存常驻，缺乏主动</a:t>
            </a:r>
            <a:r>
              <a:rPr lang="zh-CN" altLang="zh-CN" sz="1400" dirty="0">
                <a:solidFill>
                  <a:srgbClr val="0F1115"/>
                </a:solidFill>
                <a:effectLst/>
                <a:latin typeface="quote-cjk-patch"/>
                <a:sym typeface="+mn-ea"/>
              </a:rPr>
              <a:t>回收机制</a:t>
            </a:r>
            <a:endParaRPr lang="zh-CN" altLang="en-US" sz="1400" dirty="0">
              <a:solidFill>
                <a:srgbClr val="0F1115"/>
              </a:solidFill>
              <a:effectLst/>
              <a:latin typeface="quote-cjk-patch"/>
              <a:sym typeface="+mn-ea"/>
            </a:endParaRPr>
          </a:p>
          <a:p>
            <a:pPr indent="0" fontAlgn="auto">
              <a:spcAft>
                <a:spcPts val="1200"/>
              </a:spcAft>
            </a:pPr>
            <a:r>
              <a:rPr lang="zh-CN" altLang="zh-CN" sz="1400" dirty="0">
                <a:solidFill>
                  <a:srgbClr val="0F1115"/>
                </a:solidFill>
                <a:effectLst/>
                <a:latin typeface="quote-cjk-patch"/>
                <a:sym typeface="+mn-ea"/>
              </a:rPr>
              <a:t>措施</a:t>
            </a:r>
            <a:r>
              <a:rPr lang="en-US" altLang="zh-CN" sz="1400" dirty="0">
                <a:solidFill>
                  <a:srgbClr val="0F1115"/>
                </a:solidFill>
                <a:effectLst/>
                <a:latin typeface="quote-cjk-patch"/>
                <a:sym typeface="+mn-ea"/>
              </a:rPr>
              <a:t>4：MemCG </a:t>
            </a:r>
            <a:r>
              <a:rPr lang="zh-CN" altLang="en-US" sz="1400" dirty="0">
                <a:solidFill>
                  <a:srgbClr val="0F1115"/>
                </a:solidFill>
                <a:effectLst/>
                <a:latin typeface="quote-cjk-patch"/>
                <a:sym typeface="+mn-ea"/>
              </a:rPr>
              <a:t>场景化回收代价建模</a:t>
            </a:r>
            <a:r>
              <a:rPr lang="en-US" altLang="zh-CN" sz="1400" dirty="0">
                <a:solidFill>
                  <a:srgbClr val="0F1115"/>
                </a:solidFill>
                <a:effectLst/>
                <a:latin typeface="quote-cjk-patch"/>
                <a:sym typeface="+mn-ea"/>
              </a:rPr>
              <a:t>，</a:t>
            </a:r>
            <a:r>
              <a:rPr lang="zh-CN" altLang="en-US" sz="1400" dirty="0">
                <a:solidFill>
                  <a:srgbClr val="0F1115"/>
                </a:solidFill>
                <a:effectLst/>
                <a:latin typeface="quote-cjk-patch"/>
                <a:sym typeface="+mn-ea"/>
              </a:rPr>
              <a:t>自适应动态水线策略</a:t>
            </a:r>
            <a:r>
              <a:rPr lang="zh-CN" altLang="en-US" sz="1400" dirty="0">
                <a:solidFill>
                  <a:srgbClr val="0F1115"/>
                </a:solidFill>
                <a:effectLst/>
                <a:latin typeface="quote-cjk-patch"/>
                <a:sym typeface="+mn-ea"/>
              </a:rPr>
              <a:t>导出</a:t>
            </a:r>
            <a:endParaRPr lang="zh-CN" altLang="en-US" sz="1400" dirty="0">
              <a:solidFill>
                <a:srgbClr val="0F1115"/>
              </a:solidFill>
              <a:effectLst/>
              <a:latin typeface="quote-cjk-patch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93343" y="197893"/>
            <a:ext cx="118053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冗余内存精准定位：内核精准打点，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优化分析，整机内存降负载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200M+ 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293427" y="757451"/>
            <a:ext cx="11511886" cy="1383769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293427" y="1241799"/>
            <a:ext cx="9894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216176" y="817203"/>
            <a:ext cx="2089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内存回收开销大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1414818" y="1186534"/>
            <a:ext cx="3713442" cy="830231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7452361" y="811445"/>
            <a:ext cx="2227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内存回收懒惰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5489924" y="1186534"/>
            <a:ext cx="6028786" cy="830231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293426" y="2499083"/>
            <a:ext cx="5619693" cy="3932198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6185620" y="2499083"/>
            <a:ext cx="5619693" cy="3932198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/>
        </p:nvSpPr>
        <p:spPr>
          <a:xfrm>
            <a:off x="2511809" y="1175065"/>
            <a:ext cx="15194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回收开销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1577340" y="1459216"/>
            <a:ext cx="3162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一句话总结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XXXXXXXXXXX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6519077" y="1186534"/>
            <a:ext cx="4095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回收时机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5584608" y="1470685"/>
            <a:ext cx="3162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一句话总结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XXXXXXXXXXX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1577340" y="2277112"/>
            <a:ext cx="306324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XXXXXXXXXXX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7391400" y="2277112"/>
            <a:ext cx="322326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XXXXXXXXXXX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267200" y="3611880"/>
            <a:ext cx="3604260" cy="96694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胡天浩</a:t>
            </a:r>
            <a:endParaRPr lang="zh-CN" altLang="en-US" sz="4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93343" y="197893"/>
            <a:ext cx="118053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主动压缩创新：系统服务场景化语义感知与主动压缩，支撑用户态内存降低 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100M+ 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267200" y="3611880"/>
            <a:ext cx="3604260" cy="96694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黄宇</a:t>
            </a:r>
            <a:endParaRPr lang="zh-CN" altLang="en-US" sz="4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293427" y="757451"/>
            <a:ext cx="11511886" cy="1383769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文本框 64"/>
          <p:cNvSpPr txBox="1"/>
          <p:nvPr/>
        </p:nvSpPr>
        <p:spPr>
          <a:xfrm>
            <a:off x="293427" y="1241799"/>
            <a:ext cx="9894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2216176" y="817203"/>
            <a:ext cx="2089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内存回收开销大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1414818" y="1186534"/>
            <a:ext cx="3713442" cy="830231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文本框 70"/>
          <p:cNvSpPr txBox="1"/>
          <p:nvPr/>
        </p:nvSpPr>
        <p:spPr>
          <a:xfrm>
            <a:off x="7452361" y="811445"/>
            <a:ext cx="2227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内存回收懒惰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5489924" y="1186534"/>
            <a:ext cx="6028786" cy="830231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293426" y="2499083"/>
            <a:ext cx="5619693" cy="3932198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矩形 76"/>
          <p:cNvSpPr/>
          <p:nvPr/>
        </p:nvSpPr>
        <p:spPr>
          <a:xfrm>
            <a:off x="6185620" y="2499083"/>
            <a:ext cx="5619693" cy="3932198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文本框 78"/>
          <p:cNvSpPr txBox="1"/>
          <p:nvPr/>
        </p:nvSpPr>
        <p:spPr>
          <a:xfrm>
            <a:off x="2511809" y="1175065"/>
            <a:ext cx="15194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回收开销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1577340" y="1459216"/>
            <a:ext cx="3162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一句话总结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XXXXXXXXXXX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6519077" y="1186534"/>
            <a:ext cx="4095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回收时机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5584608" y="1470685"/>
            <a:ext cx="3162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一句话总结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XXXXXXXXXXX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1577340" y="2277112"/>
            <a:ext cx="306324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XXXXXXXXXXX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7391400" y="2277112"/>
            <a:ext cx="322326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XXXXXXXXXXX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93343" y="197893"/>
            <a:ext cx="118053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被动回收优化：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MemCG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水线自适应调整，支撑回收开销优化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20%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，卡顿降低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2%+ 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267200" y="3611880"/>
            <a:ext cx="3604260" cy="96694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路京</a:t>
            </a:r>
            <a:endParaRPr lang="zh-CN" altLang="en-US" sz="4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293427" y="757451"/>
            <a:ext cx="11511886" cy="1383769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文本框 63"/>
          <p:cNvSpPr txBox="1"/>
          <p:nvPr/>
        </p:nvSpPr>
        <p:spPr>
          <a:xfrm>
            <a:off x="293427" y="1241799"/>
            <a:ext cx="9894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2216176" y="817203"/>
            <a:ext cx="2089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内存回收开销大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1414818" y="1186534"/>
            <a:ext cx="3713442" cy="830231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文本框 69"/>
          <p:cNvSpPr txBox="1"/>
          <p:nvPr/>
        </p:nvSpPr>
        <p:spPr>
          <a:xfrm>
            <a:off x="7452361" y="811445"/>
            <a:ext cx="2227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内存回收懒惰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5489924" y="1186534"/>
            <a:ext cx="6028786" cy="830231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293426" y="2499083"/>
            <a:ext cx="5619693" cy="3932198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6185620" y="2499083"/>
            <a:ext cx="5619693" cy="3932198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文本框 77"/>
          <p:cNvSpPr txBox="1"/>
          <p:nvPr/>
        </p:nvSpPr>
        <p:spPr>
          <a:xfrm>
            <a:off x="2511809" y="1175065"/>
            <a:ext cx="15194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回收开销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1577340" y="1459216"/>
            <a:ext cx="3162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一句话总结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XXXXXXXXXXX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6519077" y="1186534"/>
            <a:ext cx="4095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回收时机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5584608" y="1470685"/>
            <a:ext cx="3162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一句话总结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XXXXXXXXXXX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1577340" y="2277112"/>
            <a:ext cx="306324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XXXXXXXXXXX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7391400" y="2277112"/>
            <a:ext cx="322326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XXXXXXXXXXX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93343" y="197893"/>
            <a:ext cx="118053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LRU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冷热分级优化：基于 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LPDQ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降低热页误判，加速冷页驱逐，优化应用冷启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5% 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267200" y="3611880"/>
            <a:ext cx="3604260" cy="96694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刘东慧</a:t>
            </a:r>
            <a:endParaRPr lang="zh-CN" altLang="en-US" sz="4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293427" y="757451"/>
            <a:ext cx="11511886" cy="1383769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文本框 63"/>
          <p:cNvSpPr txBox="1"/>
          <p:nvPr/>
        </p:nvSpPr>
        <p:spPr>
          <a:xfrm>
            <a:off x="293427" y="1241799"/>
            <a:ext cx="9894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2216176" y="817203"/>
            <a:ext cx="2089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内存回收开销大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1414818" y="1186534"/>
            <a:ext cx="3713442" cy="830231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文本框 69"/>
          <p:cNvSpPr txBox="1"/>
          <p:nvPr/>
        </p:nvSpPr>
        <p:spPr>
          <a:xfrm>
            <a:off x="7452361" y="811445"/>
            <a:ext cx="2227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内存回收懒惰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5489924" y="1186534"/>
            <a:ext cx="6028786" cy="830231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293426" y="2499083"/>
            <a:ext cx="5619693" cy="3932198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6185620" y="2499083"/>
            <a:ext cx="5619693" cy="3932198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文本框 77"/>
          <p:cNvSpPr txBox="1"/>
          <p:nvPr/>
        </p:nvSpPr>
        <p:spPr>
          <a:xfrm>
            <a:off x="2511809" y="1175065"/>
            <a:ext cx="15194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回收开销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1577340" y="1459216"/>
            <a:ext cx="3162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一句话总结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XXXXXXXXXXX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6519077" y="1186534"/>
            <a:ext cx="4095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回收时机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5584608" y="1470685"/>
            <a:ext cx="3162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一句话总结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XXXXXXXXXXX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1577340" y="2277112"/>
            <a:ext cx="306324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XXXXXXXXXXX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7391400" y="2277112"/>
            <a:ext cx="322326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XXXXXXXXXXX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93343" y="197893"/>
            <a:ext cx="118053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模型加载优化：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Direct I/O – DMA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联动机制构建，支撑相机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大模型启动加速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15% 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267200" y="3611880"/>
            <a:ext cx="3604260" cy="96694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刘东慧</a:t>
            </a:r>
            <a:endParaRPr lang="zh-CN" altLang="en-US" sz="4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293427" y="757451"/>
            <a:ext cx="11511886" cy="1383769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文本框 63"/>
          <p:cNvSpPr txBox="1"/>
          <p:nvPr/>
        </p:nvSpPr>
        <p:spPr>
          <a:xfrm>
            <a:off x="293427" y="1241799"/>
            <a:ext cx="9894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2216176" y="817203"/>
            <a:ext cx="2089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内存回收开销大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1414818" y="1186534"/>
            <a:ext cx="3713442" cy="830231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文本框 69"/>
          <p:cNvSpPr txBox="1"/>
          <p:nvPr/>
        </p:nvSpPr>
        <p:spPr>
          <a:xfrm>
            <a:off x="7452361" y="811445"/>
            <a:ext cx="2227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内存回收懒惰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5489924" y="1186534"/>
            <a:ext cx="6028786" cy="830231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293426" y="2499083"/>
            <a:ext cx="5619693" cy="3932198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6185620" y="2499083"/>
            <a:ext cx="5619693" cy="3932198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文本框 77"/>
          <p:cNvSpPr txBox="1"/>
          <p:nvPr/>
        </p:nvSpPr>
        <p:spPr>
          <a:xfrm>
            <a:off x="2511809" y="1175065"/>
            <a:ext cx="15194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回收开销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1577340" y="1459216"/>
            <a:ext cx="3162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一句话总结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XXXXXXXXXXX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6519077" y="1186534"/>
            <a:ext cx="4095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回收时机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5584608" y="1470685"/>
            <a:ext cx="3162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一句话总结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XXXXXXXXXXX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1577340" y="2277112"/>
            <a:ext cx="306324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XXXXXXXXXXX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7391400" y="2277112"/>
            <a:ext cx="322326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XXXXXXXXXXX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97664" y="193823"/>
            <a:ext cx="117796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压缩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边际建模：支撑缺页时延规格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DRB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，提升压缩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回收总量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267200" y="3611880"/>
            <a:ext cx="3604260" cy="96694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傅腾</a:t>
            </a:r>
            <a:endParaRPr lang="en-US" altLang="zh-CN" sz="4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93427" y="757451"/>
            <a:ext cx="11511886" cy="1383769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293427" y="1241799"/>
            <a:ext cx="9894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216176" y="817203"/>
            <a:ext cx="2089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内存回收开销大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414818" y="1186534"/>
            <a:ext cx="3713442" cy="830231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7452361" y="811445"/>
            <a:ext cx="2227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内存回收懒惰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5489924" y="1186534"/>
            <a:ext cx="6028786" cy="830231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293426" y="2499083"/>
            <a:ext cx="5619693" cy="3932198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6185620" y="2499083"/>
            <a:ext cx="5619693" cy="3932198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2511809" y="1175065"/>
            <a:ext cx="15194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回收开销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577340" y="1459216"/>
            <a:ext cx="3162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一句话总结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XXXXXXXXXXX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6519077" y="1186534"/>
            <a:ext cx="4095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回收时机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5584608" y="1470685"/>
            <a:ext cx="3162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一句话总结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XXXXXXXXXXX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577340" y="2277112"/>
            <a:ext cx="306324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XXXXXXXXXXX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7391400" y="2277112"/>
            <a:ext cx="322326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XXXXXXXXXXX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3566160"/>
            <a:ext cx="12192000" cy="8991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307080" y="2023593"/>
            <a:ext cx="6051657" cy="23688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当代负载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系统联合优化</a:t>
            </a:r>
            <a:endParaRPr lang="en-US" altLang="zh-CN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下一代系统</a:t>
            </a:r>
            <a:r>
              <a:rPr lang="en-US" altLang="zh-CN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架构协同设计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93343" y="197893"/>
            <a:ext cx="1180531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内存负载呈现异构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增长与更复杂的冷热特征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对系统内存治理提出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严峻挑战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743825" y="763905"/>
            <a:ext cx="39027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微软雅黑" charset="0"/>
                <a:ea typeface="微软雅黑" charset="0"/>
                <a:cs typeface="微软雅黑" charset="0"/>
              </a:rPr>
              <a:t>豆包 </a:t>
            </a:r>
            <a:r>
              <a:rPr lang="en-US" altLang="zh-CN" sz="1600" b="1" dirty="0">
                <a:latin typeface="微软雅黑" charset="0"/>
                <a:ea typeface="微软雅黑" charset="0"/>
                <a:cs typeface="微软雅黑" charset="0"/>
              </a:rPr>
              <a:t>AI</a:t>
            </a:r>
            <a:r>
              <a:rPr lang="zh-CN" altLang="en-US" sz="1600" b="1" dirty="0">
                <a:latin typeface="微软雅黑" charset="0"/>
                <a:ea typeface="微软雅黑" charset="0"/>
                <a:cs typeface="微软雅黑" charset="0"/>
              </a:rPr>
              <a:t>：后台长程</a:t>
            </a:r>
            <a:r>
              <a:rPr lang="en-US" altLang="zh-CN" sz="1600" b="1" dirty="0">
                <a:latin typeface="微软雅黑" charset="0"/>
                <a:ea typeface="微软雅黑" charset="0"/>
                <a:cs typeface="微软雅黑" charset="0"/>
              </a:rPr>
              <a:t> Agent</a:t>
            </a:r>
            <a:r>
              <a:rPr lang="zh-CN" altLang="en-US" sz="1600" b="1" dirty="0">
                <a:latin typeface="微软雅黑" charset="0"/>
                <a:ea typeface="微软雅黑" charset="0"/>
                <a:cs typeface="微软雅黑" charset="0"/>
              </a:rPr>
              <a:t>服务</a:t>
            </a:r>
            <a:endParaRPr lang="zh-CN" altLang="en-US" sz="1600" b="1" dirty="0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915494" y="3837954"/>
            <a:ext cx="3776012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微软雅黑" charset="0"/>
                <a:ea typeface="微软雅黑" charset="0"/>
                <a:cs typeface="微软雅黑" charset="0"/>
              </a:rPr>
              <a:t>洛书：伴随态</a:t>
            </a:r>
            <a:r>
              <a:rPr lang="en-US" altLang="zh-CN" sz="1600" b="1" dirty="0">
                <a:latin typeface="微软雅黑" charset="0"/>
                <a:ea typeface="微软雅黑" charset="0"/>
                <a:cs typeface="微软雅黑" charset="0"/>
              </a:rPr>
              <a:t>Agent</a:t>
            </a:r>
            <a:r>
              <a:rPr lang="zh-CN" altLang="en-US" sz="1600" b="1" dirty="0">
                <a:latin typeface="微软雅黑" charset="0"/>
                <a:ea typeface="微软雅黑" charset="0"/>
                <a:cs typeface="微软雅黑" charset="0"/>
              </a:rPr>
              <a:t>服务</a:t>
            </a:r>
            <a:endParaRPr lang="zh-CN" altLang="en-US" sz="1600" b="1" dirty="0">
              <a:latin typeface="微软雅黑" charset="0"/>
              <a:ea typeface="微软雅黑" charset="0"/>
              <a:cs typeface="微软雅黑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7915275" y="1137920"/>
            <a:ext cx="3648710" cy="2404110"/>
            <a:chOff x="10293" y="1798"/>
            <a:chExt cx="8582" cy="5971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293" y="1798"/>
              <a:ext cx="2669" cy="5914"/>
            </a:xfrm>
            <a:prstGeom prst="rect">
              <a:avLst/>
            </a:prstGeom>
          </p:spPr>
        </p:pic>
        <p:pic>
          <p:nvPicPr>
            <p:cNvPr id="10" name="图片 9" descr="11012a498c02b284465fec607c042bbc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176" y="1798"/>
              <a:ext cx="2735" cy="5915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149" y="1811"/>
              <a:ext cx="2726" cy="5959"/>
            </a:xfrm>
            <a:prstGeom prst="rect">
              <a:avLst/>
            </a:prstGeom>
          </p:spPr>
        </p:pic>
      </p:grpSp>
      <p:sp>
        <p:nvSpPr>
          <p:cNvPr id="15" name="文本框 14"/>
          <p:cNvSpPr txBox="1"/>
          <p:nvPr/>
        </p:nvSpPr>
        <p:spPr>
          <a:xfrm>
            <a:off x="2015490" y="759460"/>
            <a:ext cx="39027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微软雅黑" charset="0"/>
                <a:ea typeface="微软雅黑" charset="0"/>
                <a:cs typeface="微软雅黑" charset="0"/>
              </a:rPr>
              <a:t>端侧</a:t>
            </a:r>
            <a:r>
              <a:rPr lang="en-US" altLang="zh-CN" sz="1600" b="1" dirty="0">
                <a:latin typeface="微软雅黑" charset="0"/>
                <a:ea typeface="微软雅黑" charset="0"/>
                <a:cs typeface="微软雅黑" charset="0"/>
              </a:rPr>
              <a:t>Agent</a:t>
            </a:r>
            <a:r>
              <a:rPr lang="zh-CN" altLang="en-US" sz="1600" b="1" dirty="0">
                <a:latin typeface="微软雅黑" charset="0"/>
                <a:ea typeface="微软雅黑" charset="0"/>
                <a:cs typeface="微软雅黑" charset="0"/>
              </a:rPr>
              <a:t>推理负载增长</a:t>
            </a:r>
            <a:r>
              <a:rPr lang="zh-CN" altLang="en-US" sz="1600" b="1" dirty="0">
                <a:latin typeface="微软雅黑" charset="0"/>
                <a:ea typeface="微软雅黑" charset="0"/>
                <a:cs typeface="微软雅黑" charset="0"/>
              </a:rPr>
              <a:t>趋势</a:t>
            </a:r>
            <a:endParaRPr lang="zh-CN" altLang="en-US" sz="1600" b="1" dirty="0">
              <a:latin typeface="微软雅黑" charset="0"/>
              <a:ea typeface="微软雅黑" charset="0"/>
              <a:cs typeface="微软雅黑" charset="0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169545" y="1047750"/>
            <a:ext cx="7241540" cy="4079477"/>
            <a:chOff x="267" y="1650"/>
            <a:chExt cx="11404" cy="7084"/>
          </a:xfrm>
        </p:grpSpPr>
        <p:pic>
          <p:nvPicPr>
            <p:cNvPr id="14" name="图片 13" descr="agent-era-context-growth-clean"/>
            <p:cNvPicPr>
              <a:picLocks noChangeAspect="1"/>
            </p:cNvPicPr>
            <p:nvPr/>
          </p:nvPicPr>
          <p:blipFill>
            <a:blip r:embed="rId4"/>
            <a:srcRect l="4296" t="11139" r="17531" b="18213"/>
            <a:stretch>
              <a:fillRect/>
            </a:stretch>
          </p:blipFill>
          <p:spPr>
            <a:xfrm>
              <a:off x="704" y="1650"/>
              <a:ext cx="10967" cy="6551"/>
            </a:xfrm>
            <a:prstGeom prst="rect">
              <a:avLst/>
            </a:prstGeom>
          </p:spPr>
        </p:pic>
        <p:sp>
          <p:nvSpPr>
            <p:cNvPr id="16" name="文本框 15"/>
            <p:cNvSpPr txBox="1"/>
            <p:nvPr/>
          </p:nvSpPr>
          <p:spPr>
            <a:xfrm>
              <a:off x="5502" y="8201"/>
              <a:ext cx="1985" cy="5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年份 </a:t>
              </a: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旗舰机</a:t>
              </a: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67" y="3895"/>
              <a:ext cx="569" cy="20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上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下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文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长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度</a:t>
              </a:r>
              <a:endPara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1744" y="6366"/>
              <a:ext cx="9560" cy="153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1694" y="6366"/>
              <a:ext cx="3819" cy="5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14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散粒式</a:t>
              </a:r>
              <a:r>
                <a:rPr lang="en-US" altLang="zh-CN" sz="14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AI</a:t>
              </a:r>
              <a:r>
                <a:rPr lang="zh-CN" altLang="en-US" sz="14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特性</a:t>
              </a:r>
              <a:r>
                <a:rPr lang="en-US" altLang="zh-CN" sz="14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r>
                <a:rPr lang="zh-CN" altLang="en-US" sz="14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润色</a:t>
              </a:r>
              <a:r>
                <a:rPr lang="en-US" altLang="zh-CN" sz="14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/</a:t>
              </a:r>
              <a:r>
                <a:rPr lang="zh-CN" altLang="en-US" sz="14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摘要</a:t>
              </a:r>
              <a:endParaRPr lang="en-US" altLang="zh-CN" sz="1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5890" y="4550"/>
              <a:ext cx="5414" cy="2719"/>
            </a:xfrm>
            <a:prstGeom prst="rect">
              <a:avLst/>
            </a:prstGeom>
            <a:noFill/>
            <a:ln w="28575">
              <a:solidFill>
                <a:schemeClr val="accent4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2449" y="3840"/>
              <a:ext cx="5417" cy="14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accent4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伴随式</a:t>
              </a:r>
              <a:r>
                <a:rPr lang="en-US" altLang="zh-CN" sz="1400" b="1" dirty="0">
                  <a:solidFill>
                    <a:schemeClr val="accent4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Agent：1～16k</a:t>
              </a:r>
              <a:endParaRPr lang="en-US" altLang="zh-CN" sz="1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indent="-171450">
                <a:buFont typeface="Arial" panose="020B0604020202090204" pitchFamily="34" charset="0"/>
                <a:buChar char="•"/>
              </a:pPr>
              <a:r>
                <a:rPr lang="zh-CN" altLang="en-US" sz="1200" dirty="0">
                  <a:solidFill>
                    <a:schemeClr val="accent4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模型</a:t>
              </a:r>
              <a:r>
                <a:rPr lang="zh-CN" altLang="en-US" sz="1200" dirty="0">
                  <a:solidFill>
                    <a:schemeClr val="accent4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动态加载</a:t>
              </a:r>
              <a:r>
                <a:rPr lang="en-US" altLang="zh-CN" sz="1200" dirty="0">
                  <a:solidFill>
                    <a:schemeClr val="accent4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200" dirty="0">
                  <a:solidFill>
                    <a:schemeClr val="accent4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卸载</a:t>
              </a:r>
              <a:endParaRPr lang="zh-CN" altLang="en-US" sz="1200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indent="-171450">
                <a:buFont typeface="Arial" panose="020B0604020202090204" pitchFamily="34" charset="0"/>
                <a:buChar char="•"/>
              </a:pPr>
              <a:r>
                <a:rPr lang="en-US" altLang="zh-CN" sz="1200" dirty="0">
                  <a:solidFill>
                    <a:schemeClr val="accent4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KV Cache </a:t>
              </a:r>
              <a:r>
                <a:rPr lang="zh-CN" altLang="en-US" sz="1200" dirty="0">
                  <a:solidFill>
                    <a:schemeClr val="accent4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粗放式管理</a:t>
              </a:r>
              <a:endParaRPr lang="zh-CN" altLang="en-US" sz="1200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zh-CN" altLang="en-US" sz="1200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8317" y="2217"/>
              <a:ext cx="3001" cy="3812"/>
            </a:xfrm>
            <a:prstGeom prst="rect">
              <a:avLst/>
            </a:prstGeom>
            <a:noFill/>
            <a:ln w="28575">
              <a:solidFill>
                <a:srgbClr val="C00000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n>
                  <a:solidFill>
                    <a:srgbClr val="C00000"/>
                  </a:solidFill>
                </a:ln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3594" y="2007"/>
              <a:ext cx="4723" cy="11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后台长程</a:t>
              </a:r>
              <a:r>
                <a:rPr lang="en-US" altLang="zh-CN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Agent：</a:t>
              </a:r>
              <a:r>
                <a:rPr lang="en-US" altLang="zh-CN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4～128k</a:t>
              </a:r>
              <a:endPara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marL="171450" indent="-171450">
                <a:buFont typeface="Arial" panose="020B0604020202090204" pitchFamily="34" charset="0"/>
                <a:buChar char="•"/>
              </a:pPr>
              <a:r>
                <a:rPr lang="zh-CN" altLang="en-US" sz="12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分层记忆</a:t>
              </a:r>
              <a:r>
                <a:rPr lang="en-US" altLang="zh-CN" sz="12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+ KV Cache</a:t>
              </a:r>
              <a:r>
                <a:rPr lang="zh-CN" altLang="en-US" sz="12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精细化管理</a:t>
              </a:r>
              <a:endPara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indent="-171450">
                <a:buFont typeface="Arial" panose="020B0604020202090204" pitchFamily="34" charset="0"/>
                <a:buChar char="•"/>
              </a:pPr>
              <a:r>
                <a:rPr lang="zh-CN" altLang="en-US" sz="12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引入老化</a:t>
              </a:r>
              <a:r>
                <a:rPr lang="en-US" altLang="zh-CN" sz="12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/ </a:t>
              </a:r>
              <a:r>
                <a:rPr lang="zh-CN" altLang="en-US" sz="12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落盘机制</a:t>
              </a:r>
              <a:endPara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370205" y="5006975"/>
            <a:ext cx="7815580" cy="1529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三大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负载特征：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增长：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推理上下文激增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，KVCache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内存占用暴涨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异构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异构多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 DMA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占比增长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，DRAM-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带宽竞争加剧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冷热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长程后台服务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/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伴随服务令系统冷热情况更加复杂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箭头连接符 27"/>
          <p:cNvCxnSpPr/>
          <p:nvPr/>
        </p:nvCxnSpPr>
        <p:spPr>
          <a:xfrm flipH="1" flipV="1">
            <a:off x="3266440" y="2664460"/>
            <a:ext cx="2006600" cy="99949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 flipH="1" flipV="1">
            <a:off x="4003040" y="1716405"/>
            <a:ext cx="2717800" cy="474345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31" name="组合 30"/>
          <p:cNvGrpSpPr/>
          <p:nvPr/>
        </p:nvGrpSpPr>
        <p:grpSpPr>
          <a:xfrm>
            <a:off x="7619365" y="4219575"/>
            <a:ext cx="3994150" cy="2637790"/>
            <a:chOff x="11999" y="6645"/>
            <a:chExt cx="6290" cy="4154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999" y="6645"/>
              <a:ext cx="6291" cy="4155"/>
            </a:xfrm>
            <a:prstGeom prst="rect">
              <a:avLst/>
            </a:prstGeom>
          </p:spPr>
        </p:pic>
        <p:sp>
          <p:nvSpPr>
            <p:cNvPr id="30" name="矩形 29"/>
            <p:cNvSpPr/>
            <p:nvPr/>
          </p:nvSpPr>
          <p:spPr>
            <a:xfrm>
              <a:off x="16306" y="10310"/>
              <a:ext cx="1983" cy="483"/>
            </a:xfrm>
            <a:prstGeom prst="rect">
              <a:avLst/>
            </a:prstGeom>
            <a:solidFill>
              <a:srgbClr val="12100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93343" y="197893"/>
            <a:ext cx="118053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架构协同设计：通过系统回收、一致性架构、分层治理创新，优化系统吞吐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5505" y="1717675"/>
            <a:ext cx="7386955" cy="375475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766981" y="5534167"/>
            <a:ext cx="3231676" cy="1214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李老师</a:t>
            </a:r>
            <a:endParaRPr lang="en-US" altLang="zh-CN" sz="3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胡天浩</a:t>
            </a:r>
            <a:endParaRPr lang="zh-CN" altLang="en-US" sz="3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52901" y="2987864"/>
            <a:ext cx="3231676" cy="1214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缺个架构图</a:t>
            </a:r>
            <a:endParaRPr lang="en-US" altLang="zh-CN" sz="3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瓶颈数据</a:t>
            </a:r>
            <a:endParaRPr lang="zh-CN" altLang="en-US" sz="3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477534" y="839337"/>
            <a:ext cx="1428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应对措施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93343" y="1480781"/>
            <a:ext cx="42643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不要讲 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LRU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的软件概念，就讲负载，系统，架构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03" y="197893"/>
            <a:ext cx="118053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LRU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主动扫描创新：页表扫描采样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回收代价反馈，自适应优化回收开销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93427" y="757451"/>
            <a:ext cx="11511886" cy="1383769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93427" y="1241799"/>
            <a:ext cx="9894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216176" y="817203"/>
            <a:ext cx="2089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内存回收开销大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414818" y="1186534"/>
            <a:ext cx="3713442" cy="830231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7452361" y="811445"/>
            <a:ext cx="2227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内存回收懒惰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489924" y="1186534"/>
            <a:ext cx="6028786" cy="830231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293426" y="2499083"/>
            <a:ext cx="5619693" cy="3932198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6185620" y="2499083"/>
            <a:ext cx="5619693" cy="3932198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511809" y="1175065"/>
            <a:ext cx="15194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回收开销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577340" y="1459216"/>
            <a:ext cx="3162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一句话总结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XXXXXXXXXXX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519077" y="1186534"/>
            <a:ext cx="4095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回收时机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584608" y="1470685"/>
            <a:ext cx="3162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一句话总结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XXXXXXXXXXX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577340" y="2277112"/>
            <a:ext cx="306324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低开销主动扫描机制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391400" y="2277112"/>
            <a:ext cx="322326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负反馈闭环控制主动回收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7" name="表格 26"/>
          <p:cNvGraphicFramePr>
            <a:graphicFrameLocks noGrp="1"/>
          </p:cNvGraphicFramePr>
          <p:nvPr/>
        </p:nvGraphicFramePr>
        <p:xfrm>
          <a:off x="421996" y="4092785"/>
          <a:ext cx="5260874" cy="1005840"/>
        </p:xfrm>
        <a:graphic>
          <a:graphicData uri="http://schemas.openxmlformats.org/drawingml/2006/table">
            <a:tbl>
              <a:tblPr/>
              <a:tblGrid>
                <a:gridCol w="1512044"/>
                <a:gridCol w="1330209"/>
                <a:gridCol w="1579137"/>
                <a:gridCol w="839484"/>
              </a:tblGrid>
              <a:tr h="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9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指标</a:t>
                      </a:r>
                      <a:endParaRPr lang="zh-CN" sz="9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150" marR="57150" marT="57150" marB="571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900" b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之前</a:t>
                      </a:r>
                      <a:endParaRPr lang="zh-CN" sz="900" b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150" marR="57150" marT="57150" marB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9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之后</a:t>
                      </a:r>
                      <a:endParaRPr lang="zh-CN" sz="9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150" marR="57150" marT="57150" marB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900" b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来源</a:t>
                      </a:r>
                      <a:endParaRPr lang="zh-CN" sz="900" b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150" marR="57150" marT="57150" marB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9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监控开销随内存规模</a:t>
                      </a:r>
                      <a:endParaRPr lang="zh-CN" sz="9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150" marR="57150" marT="57150" marB="571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9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∝ 规模(rmap/全扫)</a:t>
                      </a:r>
                      <a:endParaRPr lang="zh-CN" sz="9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150" marR="57150" marT="57150" marB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9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en-US" altLang="zh-CN" sz="9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MB</a:t>
                      </a:r>
                      <a:r>
                        <a:rPr lang="zh-CN" sz="9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↔4</a:t>
                      </a:r>
                      <a:r>
                        <a:rPr lang="en-US" altLang="zh-CN" sz="9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</a:t>
                      </a:r>
                      <a:r>
                        <a:rPr lang="zh-CN" sz="9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 几乎不变</a:t>
                      </a:r>
                      <a:endParaRPr lang="zh-CN" sz="9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150" marR="57150" marT="57150" marB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9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[实测来源]</a:t>
                      </a:r>
                      <a:r>
                        <a:rPr lang="zh-CN" sz="9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9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150" marR="57150" marT="57150" marB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9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kswapd CPU / 后台被杀</a:t>
                      </a:r>
                      <a:endParaRPr lang="zh-CN" sz="9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150" marR="57150" marT="57150" marB="571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9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基线</a:t>
                      </a:r>
                      <a:endParaRPr lang="zh-CN" sz="9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150" marR="57150" marT="57150" marB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9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显著↓ / ↓</a:t>
                      </a:r>
                      <a:endParaRPr lang="zh-CN" sz="9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150" marR="57150" marT="57150" marB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9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[实测来源]</a:t>
                      </a:r>
                      <a:r>
                        <a:rPr lang="zh-CN" sz="9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9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150" marR="57150" marT="57150" marB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9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每页"判冷热"均摊成本</a:t>
                      </a:r>
                      <a:endParaRPr lang="zh-CN" sz="9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150" marR="57150" marT="57150" marB="571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高(逐页 rmap)</a:t>
                      </a:r>
                      <a:endParaRPr lang="zh-CN" sz="9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150" marR="57150" marT="57150" marB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↓ ~1 个数量级(批量清 AF)</a:t>
                      </a:r>
                      <a:endParaRPr lang="zh-CN" sz="9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150" marR="57150" marT="57150" marB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9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[示例·待核实]</a:t>
                      </a:r>
                      <a:endParaRPr lang="zh-CN" sz="9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150" marR="57150" marT="57150" marB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C"/>
                    </a:solidFill>
                  </a:tcPr>
                </a:tc>
              </a:tr>
            </a:tbl>
          </a:graphicData>
        </a:graphic>
      </p:graphicFrame>
      <p:sp>
        <p:nvSpPr>
          <p:cNvPr id="29" name="文本框 28"/>
          <p:cNvSpPr txBox="1"/>
          <p:nvPr/>
        </p:nvSpPr>
        <p:spPr>
          <a:xfrm>
            <a:off x="339146" y="5194878"/>
            <a:ext cx="534372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PTE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正向扫描：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批量扫描页表，</a:t>
            </a:r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缓存跳转规整，预取成功率高</a:t>
            </a:r>
            <a:endParaRPr lang="en-US" altLang="zh-CN" sz="14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Bloom filter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区域采样：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通过滤波器跳过稀疏页表，降低扫描开销，</a:t>
            </a:r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与映射内存大小解耦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，提升周期性常驻扫描可行性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物理地址监控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实测访问：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提供精准冷热信息，优于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LRU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近似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0" name="表格 29"/>
          <p:cNvGraphicFramePr>
            <a:graphicFrameLocks noGrp="1"/>
          </p:cNvGraphicFramePr>
          <p:nvPr/>
        </p:nvGraphicFramePr>
        <p:xfrm>
          <a:off x="6422750" y="4092785"/>
          <a:ext cx="5144410" cy="1257300"/>
        </p:xfrm>
        <a:graphic>
          <a:graphicData uri="http://schemas.openxmlformats.org/drawingml/2006/table">
            <a:tbl>
              <a:tblPr/>
              <a:tblGrid>
                <a:gridCol w="1541463"/>
                <a:gridCol w="2506663"/>
                <a:gridCol w="1096284"/>
              </a:tblGrid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900" b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指标</a:t>
                      </a:r>
                      <a:endParaRPr lang="zh-CN" sz="900" b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150" marR="57150" marT="57150" marB="571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9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结果</a:t>
                      </a:r>
                      <a:endParaRPr lang="zh-CN" sz="9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150" marR="57150" marT="57150" marB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900" b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来源</a:t>
                      </a:r>
                      <a:endParaRPr lang="zh-CN" sz="900" b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150" marR="57150" marT="57150" marB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D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9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内存 PSI</a:t>
                      </a:r>
                      <a:endParaRPr lang="zh-CN" sz="9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150" marR="57150" marT="57150" marB="571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900" b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削减 ~69.1%</a:t>
                      </a:r>
                      <a:endParaRPr lang="zh-CN" sz="9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150" marR="57150" marT="57150" marB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9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[实测来源]</a:t>
                      </a:r>
                      <a:r>
                        <a:rPr lang="zh-CN" sz="9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9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150" marR="57150" marT="57150" marB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D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自调节分层性能</a:t>
                      </a:r>
                      <a:endParaRPr lang="zh-CN" sz="9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150" marR="57150" marT="57150" marB="571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900" b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DAMON +4.43%</a:t>
                      </a:r>
                      <a:r>
                        <a:rPr lang="zh-CN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vs 内核 NUMAB-2 </a:t>
                      </a:r>
                      <a:r>
                        <a:rPr lang="zh-CN" sz="900" b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−7.36%</a:t>
                      </a:r>
                      <a:endParaRPr lang="zh-CN" sz="9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150" marR="57150" marT="57150" marB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9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[实测来源]</a:t>
                      </a:r>
                      <a:endParaRPr lang="zh-CN" sz="9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150" marR="57150" marT="57150" marB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D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透明内存卸载比例</a:t>
                      </a:r>
                      <a:endParaRPr lang="zh-CN" sz="9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150" marR="57150" marT="57150" marB="571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~20–32% 内存,性能影响小</a:t>
                      </a:r>
                      <a:endParaRPr lang="zh-CN" sz="9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150" marR="57150" marT="57150" marB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9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[实测来源·约]</a:t>
                      </a:r>
                      <a:r>
                        <a:rPr lang="zh-CN" sz="9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zh-CN" sz="9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150" marR="57150" marT="57150" marB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D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9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突发期 direct-reclaim 卡顿</a:t>
                      </a:r>
                      <a:endParaRPr lang="zh-CN" sz="9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150" marR="57150" marT="57150" marB="571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↓(削峰收益)</a:t>
                      </a:r>
                      <a:endParaRPr lang="zh-CN" sz="9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150" marR="57150" marT="57150" marB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D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9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[示例·待核实</a:t>
                      </a:r>
                      <a:r>
                        <a:rPr lang="en-US" altLang="zh-CN" sz="9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]</a:t>
                      </a:r>
                      <a:endParaRPr lang="zh-CN" sz="9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150" marR="57150" marT="57150" marB="571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DFC"/>
                    </a:solidFill>
                  </a:tcPr>
                </a:tc>
              </a:tr>
            </a:tbl>
          </a:graphicData>
        </a:graphic>
      </p:graphicFrame>
      <p:sp>
        <p:nvSpPr>
          <p:cNvPr id="34" name="文本框 33"/>
          <p:cNvSpPr txBox="1"/>
          <p:nvPr/>
        </p:nvSpPr>
        <p:spPr>
          <a:xfrm>
            <a:off x="6294123" y="5387315"/>
            <a:ext cx="534372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反馈回路：基于比例反馈增益，自动逼近目标、平滑收敛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细粒度作用域：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多租户公平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尊重 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memory.low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、支撑分层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扫描时机前移：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削「峰值时的阻塞与被杀」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非削峰值需求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537" y="2774316"/>
            <a:ext cx="5153791" cy="1162074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3510" y="2710196"/>
            <a:ext cx="5223650" cy="125730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03" y="197893"/>
            <a:ext cx="118053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XVM-LRU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主动感知创新：业务语义融合页表冷热，精准回收提升系统流畅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267200" y="3611880"/>
            <a:ext cx="3604260" cy="15217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胡天浩</a:t>
            </a:r>
            <a:endParaRPr lang="en-US" altLang="zh-CN" sz="4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4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黄宇</a:t>
            </a:r>
            <a:endParaRPr lang="zh-CN" altLang="en-US" sz="4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293427" y="757451"/>
            <a:ext cx="11511886" cy="1383769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293427" y="1241799"/>
            <a:ext cx="9894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2216176" y="817203"/>
            <a:ext cx="2089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内存回收开销大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1414818" y="1186534"/>
            <a:ext cx="3713442" cy="830231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文本框 71"/>
          <p:cNvSpPr txBox="1"/>
          <p:nvPr/>
        </p:nvSpPr>
        <p:spPr>
          <a:xfrm>
            <a:off x="7452361" y="811445"/>
            <a:ext cx="2227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内存回收懒惰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5489924" y="1186534"/>
            <a:ext cx="6028786" cy="830231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293426" y="2499083"/>
            <a:ext cx="5619693" cy="3932198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矩形 77"/>
          <p:cNvSpPr/>
          <p:nvPr/>
        </p:nvSpPr>
        <p:spPr>
          <a:xfrm>
            <a:off x="6185620" y="2499083"/>
            <a:ext cx="5619693" cy="3932198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文本框 79"/>
          <p:cNvSpPr txBox="1"/>
          <p:nvPr/>
        </p:nvSpPr>
        <p:spPr>
          <a:xfrm>
            <a:off x="2511809" y="1175065"/>
            <a:ext cx="15194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回收开销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1577340" y="1459216"/>
            <a:ext cx="3162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一句话总结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XXXXXXXXXXX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6519077" y="1186534"/>
            <a:ext cx="4095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回收时机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5584608" y="1470685"/>
            <a:ext cx="3162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一句话总结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XXXXXXXXXXX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1577340" y="2277112"/>
            <a:ext cx="306324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XXXXXXXXXXX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7391400" y="2277112"/>
            <a:ext cx="322326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XXXXXXXXXXX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02" y="197893"/>
            <a:ext cx="122958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IOMMU+SVA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统一页表管理：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内存纳入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LRU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老化，降低整机内存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267200" y="3611880"/>
            <a:ext cx="3604260" cy="96694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胡天浩</a:t>
            </a:r>
            <a:endParaRPr lang="en-US" altLang="zh-CN" sz="4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93427" y="757451"/>
            <a:ext cx="11511886" cy="1383769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293427" y="1241799"/>
            <a:ext cx="9894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216176" y="817203"/>
            <a:ext cx="2089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内存回收开销大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414818" y="1186534"/>
            <a:ext cx="3713442" cy="830231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7452361" y="811445"/>
            <a:ext cx="2227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内存回收懒惰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5489924" y="1186534"/>
            <a:ext cx="6028786" cy="830231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293426" y="2499083"/>
            <a:ext cx="5619693" cy="3932198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6185620" y="2499083"/>
            <a:ext cx="5619693" cy="3932198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2511809" y="1175065"/>
            <a:ext cx="15194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回收开销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577340" y="1459216"/>
            <a:ext cx="3162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一句话总结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XXXXXXXXXXX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6519077" y="1186534"/>
            <a:ext cx="4095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回收时机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5584608" y="1470685"/>
            <a:ext cx="3162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一句话总结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XXXXXXXXXXX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577340" y="2277112"/>
            <a:ext cx="306324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XXXXXXXXXXX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7391400" y="2277112"/>
            <a:ext cx="322326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XXXXXXXXXXX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02" y="197893"/>
            <a:ext cx="117796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DRAM-PIM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一致性管理：基于负载感知构建仲裁机制，优化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Bank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冲突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267200" y="3611880"/>
            <a:ext cx="3604260" cy="96694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胡天浩</a:t>
            </a:r>
            <a:endParaRPr lang="en-US" altLang="zh-CN" sz="4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93427" y="757451"/>
            <a:ext cx="11511886" cy="1383769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293427" y="1241799"/>
            <a:ext cx="9894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216176" y="817203"/>
            <a:ext cx="2089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内存回收开销大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414818" y="1186534"/>
            <a:ext cx="3713442" cy="830231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7452361" y="811445"/>
            <a:ext cx="2227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内存回收懒惰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5489924" y="1186534"/>
            <a:ext cx="6028786" cy="830231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293426" y="2499083"/>
            <a:ext cx="5619693" cy="3932198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6185620" y="2499083"/>
            <a:ext cx="5619693" cy="3932198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2511809" y="1175065"/>
            <a:ext cx="15194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回收开销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577340" y="1459216"/>
            <a:ext cx="3162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一句话总结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XXXXXXXXXXX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6519077" y="1186534"/>
            <a:ext cx="4095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回收时机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5584608" y="1470685"/>
            <a:ext cx="3162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一句话总结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XXXXXXXXXXX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577340" y="2277112"/>
            <a:ext cx="306324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XXXXXXXXXXX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7391400" y="2277112"/>
            <a:ext cx="322326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XXXXXXXXXXX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02" y="197893"/>
            <a:ext cx="117796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KV Cache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内存管理：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KV Cache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分层管理召回，提升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Prefix Cache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命中率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267200" y="3611880"/>
            <a:ext cx="3604260" cy="96694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刘东慧</a:t>
            </a:r>
            <a:endParaRPr lang="en-US" altLang="zh-CN" sz="4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93427" y="757451"/>
            <a:ext cx="11511886" cy="1383769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293427" y="1241799"/>
            <a:ext cx="9894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216176" y="817203"/>
            <a:ext cx="2089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内存回收开销大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414818" y="1186534"/>
            <a:ext cx="3713442" cy="830231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7452361" y="811445"/>
            <a:ext cx="2227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内存回收懒惰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5489924" y="1186534"/>
            <a:ext cx="6028786" cy="830231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293426" y="2499083"/>
            <a:ext cx="5619693" cy="3932198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6185620" y="2499083"/>
            <a:ext cx="5619693" cy="3932198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2511809" y="1175065"/>
            <a:ext cx="15194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回收开销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577340" y="1459216"/>
            <a:ext cx="3162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一句话总结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XXXXXXXXXXX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6519077" y="1186534"/>
            <a:ext cx="4095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回收时机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5584608" y="1470685"/>
            <a:ext cx="3162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一句话总结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XXXXXXXXXXX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577340" y="2277112"/>
            <a:ext cx="306324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XXXXXXXXXXX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7391400" y="2277112"/>
            <a:ext cx="322326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XXXXXXXXXXX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02" y="197893"/>
            <a:ext cx="117796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NPU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推理随路解压：基于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AQLM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极致加速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NPU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推理流程，降低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DDR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吞吐开销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267200" y="3611880"/>
            <a:ext cx="3604260" cy="96694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李老师</a:t>
            </a:r>
            <a:endParaRPr lang="en-US" altLang="zh-CN" sz="4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93427" y="757451"/>
            <a:ext cx="11511886" cy="1383769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293427" y="1241799"/>
            <a:ext cx="9894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216176" y="817203"/>
            <a:ext cx="2089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内存回收开销大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414818" y="1186534"/>
            <a:ext cx="3713442" cy="830231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7452361" y="811445"/>
            <a:ext cx="2227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内存回收懒惰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5489924" y="1186534"/>
            <a:ext cx="6028786" cy="830231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293426" y="2499083"/>
            <a:ext cx="5619693" cy="3932198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6185620" y="2499083"/>
            <a:ext cx="5619693" cy="3932198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2511809" y="1175065"/>
            <a:ext cx="15194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回收开销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577340" y="1459216"/>
            <a:ext cx="3162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一句话总结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XXXXXXXXXXX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6519077" y="1186534"/>
            <a:ext cx="4095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回收时机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5584608" y="1470685"/>
            <a:ext cx="3162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一句话总结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XXXXXXXXXXX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571652" y="2287863"/>
            <a:ext cx="306324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XXXXXXXXXXX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7391400" y="2277112"/>
            <a:ext cx="322326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XXXXXXXXXXX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02" y="197893"/>
            <a:ext cx="117796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STT/SOT-MRAM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：低延时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功耗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高密度器件，多级缓存支撑更高数据吞吐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267200" y="3611880"/>
            <a:ext cx="3604260" cy="96694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胡天浩</a:t>
            </a:r>
            <a:endParaRPr lang="en-US" altLang="zh-CN" sz="4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93427" y="757451"/>
            <a:ext cx="11511886" cy="1383769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293427" y="1241799"/>
            <a:ext cx="9894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216176" y="817203"/>
            <a:ext cx="2089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内存回收开销大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414818" y="1186534"/>
            <a:ext cx="3713442" cy="830231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7452361" y="811445"/>
            <a:ext cx="2227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内存回收懒惰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5489924" y="1186534"/>
            <a:ext cx="6028786" cy="830231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293426" y="2499083"/>
            <a:ext cx="5619693" cy="3932198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6185620" y="2499083"/>
            <a:ext cx="5619693" cy="3932198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2511809" y="1175065"/>
            <a:ext cx="15194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回收开销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577340" y="1459216"/>
            <a:ext cx="3162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一句话总结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XXXXXXXXXXX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6519077" y="1186534"/>
            <a:ext cx="4095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回收时机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5584608" y="1470685"/>
            <a:ext cx="3162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一句话总结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XXXXXXXXXXX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577340" y="2277112"/>
            <a:ext cx="306324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XXXXXXXXXXX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7391400" y="2277112"/>
            <a:ext cx="322326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XXXXXXXXXXX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93343" y="197893"/>
            <a:ext cx="118053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鸿蒙内存负载冷热建模平台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93343" y="197893"/>
            <a:ext cx="118053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多级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建模仿真平台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形 1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16575" y="800301"/>
            <a:ext cx="8934659" cy="6057699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93343" y="197893"/>
            <a:ext cx="118053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负载表现出复杂的时空冷热特点，有限内存容量下，对系统的流畅提出了严峻挑战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箭头连接符 5"/>
          <p:cNvCxnSpPr/>
          <p:nvPr/>
        </p:nvCxnSpPr>
        <p:spPr>
          <a:xfrm>
            <a:off x="5552184" y="3593459"/>
            <a:ext cx="2506377" cy="7614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 flipV="1">
            <a:off x="5552184" y="2118250"/>
            <a:ext cx="2276133" cy="14752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7848052" y="1723545"/>
            <a:ext cx="2993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宏观指标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7941246" y="4243392"/>
            <a:ext cx="2993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微观指标</a:t>
            </a:r>
            <a:endParaRPr lang="zh-CN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93343" y="197893"/>
            <a:ext cx="118053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负载系统联合建模仿真，基于场景化特征优化冷热识别，支撑系统内存高效流转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934" y="839337"/>
            <a:ext cx="5334155" cy="5725236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7417557" y="5274860"/>
            <a:ext cx="4471419" cy="14595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42950" indent="-742950" algn="ctr">
              <a:buAutoNum type="arabicPeriod"/>
            </a:pP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讲分层架构</a:t>
            </a:r>
            <a:endParaRPr lang="en-US" alt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indent="-742950" algn="ctr">
              <a:buAutoNum type="arabicPeriod"/>
            </a:pP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讲瓶颈</a:t>
            </a:r>
            <a:endParaRPr lang="en-US" alt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indent="-742950" algn="ctr">
              <a:buAutoNum type="arabicPeriod"/>
            </a:pP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讲应对措施</a:t>
            </a:r>
            <a:endParaRPr lang="zh-CN" altLang="en-US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046561" y="2872854"/>
            <a:ext cx="1323833" cy="90075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991969" y="2472134"/>
            <a:ext cx="1428466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冷热判定差</a:t>
            </a:r>
            <a:endParaRPr lang="en-US" altLang="zh-CN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530824" y="4738048"/>
            <a:ext cx="1323833" cy="90075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476232" y="4337328"/>
            <a:ext cx="262492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压缩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能力未充分释放</a:t>
            </a:r>
            <a:endParaRPr lang="en-US" altLang="zh-CN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2526" y="1302224"/>
            <a:ext cx="1323833" cy="73129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247934" y="901504"/>
            <a:ext cx="1428466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冗余负载多</a:t>
            </a:r>
            <a:endParaRPr lang="en-US" altLang="zh-CN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477534" y="839337"/>
            <a:ext cx="1428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应对措施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846930" y="1656526"/>
            <a:ext cx="609713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负载：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r>
              <a:rPr lang="zh-CN" altLang="zh-CN" b="0" i="0" dirty="0">
                <a:solidFill>
                  <a:srgbClr val="0F1115"/>
                </a:solidFill>
                <a:effectLst/>
                <a:latin typeface="quote-cjk-patch"/>
              </a:rPr>
              <a:t>应用冗余内存精准定位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r>
              <a:rPr lang="zh-CN" altLang="en-US" dirty="0">
                <a:solidFill>
                  <a:srgbClr val="0F1115"/>
                </a:solidFill>
                <a:latin typeface="quote-cjk-patch"/>
              </a:rPr>
              <a:t>系统：</a:t>
            </a:r>
            <a:endParaRPr lang="en-US" altLang="zh-CN" dirty="0">
              <a:solidFill>
                <a:srgbClr val="0F1115"/>
              </a:solidFill>
              <a:latin typeface="quote-cjk-patch"/>
            </a:endParaRPr>
          </a:p>
          <a:p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主动压缩创新：</a:t>
            </a:r>
            <a:r>
              <a:rPr lang="zh-CN" altLang="zh-CN" b="0" i="0" dirty="0">
                <a:solidFill>
                  <a:srgbClr val="0F1115"/>
                </a:solidFill>
                <a:effectLst/>
                <a:latin typeface="quote-cjk-patch"/>
              </a:rPr>
              <a:t>系统服务场景化语义感知与主动压缩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r>
              <a:rPr lang="zh-CN" altLang="zh-CN" b="0" i="0" dirty="0">
                <a:solidFill>
                  <a:srgbClr val="0F1115"/>
                </a:solidFill>
                <a:effectLst/>
                <a:latin typeface="quote-cjk-patch"/>
              </a:rPr>
              <a:t>被动回收优化：MemCG水线自适应调整，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r>
              <a:rPr lang="zh-CN" altLang="en-US" dirty="0">
                <a:solidFill>
                  <a:srgbClr val="0F1115"/>
                </a:solidFill>
                <a:latin typeface="quote-cjk-patch"/>
              </a:rPr>
              <a:t>回收</a:t>
            </a:r>
            <a:r>
              <a:rPr lang="zh-CN" altLang="zh-CN" b="0" i="0" dirty="0">
                <a:solidFill>
                  <a:srgbClr val="0F1115"/>
                </a:solidFill>
                <a:effectLst/>
                <a:latin typeface="quote-cjk-patch"/>
              </a:rPr>
              <a:t>LRU冷热分级优化：基于 LPDQ 降低热页误判，加速冷页驱逐，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r>
              <a:rPr lang="zh-CN" altLang="zh-CN" b="0" i="0" dirty="0">
                <a:solidFill>
                  <a:srgbClr val="0F1115"/>
                </a:solidFill>
                <a:effectLst/>
                <a:latin typeface="quote-cjk-patch"/>
              </a:rPr>
              <a:t>模型加载优化：Direct I/O – DMA 联动机制构建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endParaRPr lang="en-US" altLang="zh-CN" dirty="0">
              <a:solidFill>
                <a:srgbClr val="0F1115"/>
              </a:solidFill>
              <a:latin typeface="quote-cjk-patch"/>
            </a:endParaRPr>
          </a:p>
          <a:p>
            <a:r>
              <a:rPr lang="zh-CN" altLang="en-US" dirty="0">
                <a:solidFill>
                  <a:srgbClr val="0F1115"/>
                </a:solidFill>
                <a:latin typeface="quote-cjk-patch"/>
              </a:rPr>
              <a:t>架构：</a:t>
            </a:r>
            <a:endParaRPr lang="en-US" altLang="zh-CN" dirty="0">
              <a:solidFill>
                <a:srgbClr val="0F1115"/>
              </a:solidFill>
              <a:latin typeface="quote-cjk-patch"/>
            </a:endParaRPr>
          </a:p>
          <a:p>
            <a:r>
              <a:rPr lang="zh-CN" altLang="en-US" dirty="0">
                <a:solidFill>
                  <a:srgbClr val="0F1115"/>
                </a:solidFill>
                <a:latin typeface="quote-cjk-patch"/>
              </a:rPr>
              <a:t>压缩</a:t>
            </a:r>
            <a:r>
              <a:rPr lang="en-US" altLang="zh-CN" dirty="0">
                <a:solidFill>
                  <a:srgbClr val="0F1115"/>
                </a:solidFill>
                <a:latin typeface="quote-cjk-patch"/>
              </a:rPr>
              <a:t>IP</a:t>
            </a:r>
            <a:r>
              <a:rPr lang="zh-CN" altLang="en-US" dirty="0">
                <a:solidFill>
                  <a:srgbClr val="0F1115"/>
                </a:solidFill>
                <a:latin typeface="quote-cjk-patch"/>
              </a:rPr>
              <a:t>边际建模</a:t>
            </a:r>
            <a:endParaRPr lang="zh-CN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93343" y="197893"/>
            <a:ext cx="118053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时代，负载表现出更复杂的冷热特征，更异构的内存持有，更庞大的数据吞吐需求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343" y="1028890"/>
            <a:ext cx="6990289" cy="582911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650699" y="1447252"/>
            <a:ext cx="3776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豆包 </a:t>
            </a:r>
            <a:r>
              <a:rPr lang="en-US" altLang="zh-CN" dirty="0"/>
              <a:t>AI</a:t>
            </a:r>
            <a:r>
              <a:rPr lang="zh-CN" altLang="en-US" dirty="0"/>
              <a:t>：后台常驻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7650699" y="4231019"/>
            <a:ext cx="3776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洛书：伴随态应用</a:t>
            </a:r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4945</Words>
  <Application>WPS 演示</Application>
  <PresentationFormat>宽屏</PresentationFormat>
  <Paragraphs>734</Paragraphs>
  <Slides>26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26</vt:i4>
      </vt:variant>
    </vt:vector>
  </HeadingPairs>
  <TitlesOfParts>
    <vt:vector size="49" baseType="lpstr">
      <vt:lpstr>Arial</vt:lpstr>
      <vt:lpstr>宋体</vt:lpstr>
      <vt:lpstr>Wingdings</vt:lpstr>
      <vt:lpstr>微软雅黑</vt:lpstr>
      <vt:lpstr>汉仪旗黑</vt:lpstr>
      <vt:lpstr>quote-cjk-patch</vt:lpstr>
      <vt:lpstr>宋体</vt:lpstr>
      <vt:lpstr>Arial Unicode MS</vt:lpstr>
      <vt:lpstr>等线 Light</vt:lpstr>
      <vt:lpstr>苹方-简</vt:lpstr>
      <vt:lpstr>等线</vt:lpstr>
      <vt:lpstr>Thonburi</vt:lpstr>
      <vt:lpstr>Calibri</vt:lpstr>
      <vt:lpstr>Helvetica Neue</vt:lpstr>
      <vt:lpstr>宋体-简</vt:lpstr>
      <vt:lpstr>quote-cjk-patch</vt:lpstr>
      <vt:lpstr>微软雅黑</vt:lpstr>
      <vt:lpstr>MS PGothic</vt:lpstr>
      <vt:lpstr>微软</vt:lpstr>
      <vt:lpstr>Apple Color Emoji</vt:lpstr>
      <vt:lpstr>Wingdings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sirius</dc:creator>
  <cp:lastModifiedBy>收留胖猴砸的小老百姓</cp:lastModifiedBy>
  <cp:revision>75</cp:revision>
  <dcterms:created xsi:type="dcterms:W3CDTF">2026-06-23T10:46:58Z</dcterms:created>
  <dcterms:modified xsi:type="dcterms:W3CDTF">2026-06-23T10:46:58Z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2052-12.1.26016.26016</vt:lpwstr>
  </property>
  <property fmtid="{D5CDD505-2E9C-101B-9397-08002B2CF9AE}" pid="3" name="ICV">
    <vt:lpwstr>5910C8879D3E61CF22643A6AD8710E3F_42</vt:lpwstr>
  </property>
</Properties>
</file>