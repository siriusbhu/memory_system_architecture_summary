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封面。核心一词：Faultability（可缺页化）。本deck是N+2总览中“IOMMU SVA”洞察的深挖companion，覆盖：为什么需要IOMMU、SoC片上互联（Apple M1 UMA）、terminate vs recoverable故障模型、SMMU stall完整机制、三侧机制A–L、量化对比。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总览主线：从锁页DMA+固定IOMMU（terminate）演进到SVA+可缺页IOMMU（recoverable）。五大瓶颈P1–P5分别由按需调页、共享VA零拷贝、PASID隔离、嵌套翻译、IOMMUFD fault fd解决。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MMU解决DMA四个根本问题：安全（任意物理地址可达=DMA攻击）、寻址（32-bit设备）、虚拟化（GPA≠HPA）、连续性（scatter-gather）。它是设备世界的MMU：翻译IOVA→PA、权限检查、per-device隔离、自带IOTLB。各平台：Intel VT-d / AMD-Vi / ARM SMMUv3 / Apple DART。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【核心架构图】Apple M1 统一内存(UMA)：CPU、GPU、ANE等所有IP共享同一片LPDDR4X，无独立显存。三个关键设计点：①CPU不走DART——P/E核各自核内MMU/TLB完成VA→PA，以相干方式直接接入fabric（绿色路径）；②非CPU设备走DART——GPU/ANE/ISP/PCIe发出的IOVA必经per-device DART翻译（紫色路径）；③SLC不是CPU的L3——它是挂在fabric上、所有IP共享的memory-side cache，主要为省DRAM带宽和功耗。数据路径自上而下：IP块→(CPU直连/设备经DART)→Coherent Fabric/NoC→SLC 8MB→8个内存控制器→LPDDR4X统一内存。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五大瓶颈P1–P5及量化证据。P1过度锁页（LMKD查杀↑15–30%）；P2 bounce buffer（CPU开销↓40–60%）；P3无每进程隔离（PASID 2²⁰）；P4 VM直通静态映射（秒级→瞬时）；P5无用户态缺页投递（IOMMUFD fault fd 2025）。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证据汇总表：5项指标对比锁页DMA与SVA。关键数字：GPU/NPU锁页内存↓60–80%、CPU开销↓40–60%、PASID提供2²⁰隔离地址空间、bounce buffer拷贝归零。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故障模型分叉。Terminate（经典DMA）：pin内存、提前映射、fault=fatal。Recoverable（SVA）：demand page、共享页表、stall/PRI。可恢复两条路径：PCIe PRI（暂停在设备内、需ATC）vs ARM SMMU stall（暂停在SMMU内、不需ATC、设备只需声明stall-tolerant，适合片上设备）。Apple DART属于terminate模型。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左右对比两条数据通路。原始：CPU pin_pages→固定IOMMU静态映射→设备用PA；锁页缓冲区永久锁定，可换出内存被挤压，需bounce buffer。演进：CPU与设备共享VA→SMMUv3可缺页(PASID每进程页表+stall+IOPF+ATS/PRI+嵌套翻译)→设备零拷贝；共享页面未锁定可回收，与换出/迁移/压缩按需双向调页。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SMMU stall可恢复缺页十步时序（蛇形：①→⑤向右，⑥→⑩向左）。设备(蓝)/SMMU(紫)/OS(绿)三侧协作：①设备DMA(VA+SSID)→②SMMU走stage-1遇无效PTE→③STALL park事务→④写evtq+拉中断→⑤OS解析SID→device、SSID→mm→⑥IOPF可睡眠handle_mm_fault补页→⑦TLBI失效→⑧cmdq发CMD_RESUME→⑨重走页表成功→⑩DMA完成、对设备透明。非法访问则第⑧步发abort。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三侧机制A–L。Device侧(需硬件改动)：A stall-tolerant、B SSID/PASID标签、C固件声明。SMMU侧(需SMMU IP改动)：D STE/CD+stall位、E Event Queue、F CMD_RESUME、G Park+re-walk(最核心硬件代价，需SRAM存stalled事务)。OS侧(纯软件)：H SVA bind、I可睡眠IOPF、J evtq解析、K补页+CMD_RESUME、L mmu_notifier同步失效(一致性基石、性能瓶颈)。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九维度量化对比总表。从内存锁页、bounce buffer、地址空间数、页面迁移、VM建立耗时、用户态投递、缺页处理方式、设备端TLB、硬件要求逐项对照。红=原始锁页方案的代价，绿=SVA演进方案的收益。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收益vs尚未解决。收益：消除锁页(释放60–80%)、去bounce buffer(带宽减半)、PASID每进程隔离、嵌套翻译透明VM直通、IOMMUFD打通用户态缺页。尚未解决：缺页延迟(实时负载)、IOTLB抖动(并发PASID)、旧设备兼容、CPU缓存一致性(需CXL.cache/CHI)、安全攻击面扩大。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个开放问题：①缺页延迟SLA(预测式预缺页压到1µs?)、②IOTLB扩展性(PASID并发、PRI优先级)、③一致性融合(IOMMU页表与CPU一致性目录合并?)、④安全加固(设备版RME防恶意缺页)、⑤移动端落地(Android何时全SVA)、⑥NVMe计算存储(存储场景先于GPU成熟?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结论。核心一词Faultability（可缺页化）：让设备像CPU几十年那样对未映射页缺页，为整个设备生态解锁按需调页、共享寻址、内存弹性。关键数字回顾：锁页内存↓60–80%、PASID 2²⁰、零拷贝、IOMMUFD 2025。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参考文献10项：LWN IOMMUFD缺页投递、ARM SMMUv3手册、PCIe ATS/PRI/PASID规范、Linux内核文档、KVM Forum嵌套翻译、Samsung NVMe计算存储、IEEE CAL GPU SVM缺页、ASPLOS DAMN、Brucker SVA patchsets、Asahi/AnandTech/7-cpu Apple M1逆向实测。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3840480" cy="384048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2926080" cy="2926080"/>
          </a:xfrm>
          <a:prstGeom prst="ellipse">
            <a:avLst/>
          </a:prstGeom>
          <a:solidFill>
            <a:srgbClr val="A78BF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A78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内存方向调研 · INSIGHT / N+2 · 深挖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IOMMU 缺页处理与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432304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共享虚拟寻址（SVA）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41248" y="3611880"/>
            <a:ext cx="5669280" cy="56692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6118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一词概括   </a:t>
            </a:r>
            <a:pPr algn="l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Faultability — 可缺页化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4434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让设备像 CPU 一样对未映射页缺页 —— 为整个设备生态解锁按需调页、共享寻址与内存弹性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" y="5166360"/>
            <a:ext cx="1592885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5166360"/>
            <a:ext cx="15928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为什么需要 IOMMU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35301" y="5166360"/>
            <a:ext cx="1305763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5301" y="5166360"/>
            <a:ext cx="13057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SoC 片上互联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42232" y="516636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42232" y="516636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故障模型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9240" y="5166360"/>
            <a:ext cx="1556309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5166360"/>
            <a:ext cx="155630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SMMU stall 机制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06717" y="5166360"/>
            <a:ext cx="1005840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06717" y="516636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量化对比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ARM SMMUv3 · PCIe ATS/PRI/PASID · Linux IOPF/SVA/IOMMUFD · Apple DART（UMA）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632764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2026-06 · 调研整理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658368" cy="420624"/>
          </a:xfrm>
          <a:prstGeom prst="roundRect">
            <a:avLst>
              <a:gd name="adj" fmla="val 21739"/>
            </a:avLst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总览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8897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从「全部锁页 DMA」到「可缺页 SVA」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771632" y="47548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71632" y="4754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演进主线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5074920" cy="2011680"/>
          </a:xfrm>
          <a:prstGeom prst="roundRect">
            <a:avLst>
              <a:gd name="adj" fmla="val 4545"/>
            </a:avLst>
          </a:prstGeom>
          <a:solidFill>
            <a:srgbClr val="FEF2F2"/>
          </a:solidFill>
          <a:ln w="15875">
            <a:solidFill>
              <a:srgbClr val="FECACA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原始方案 · Terminate 模型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锁页 DMA + 固定 IOMMU 映射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缓冲区全程 pin 在物理内存，不可换出/迁移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CPU↔设备需 bounce buffer 显式拷贝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翻译失败 = DMAR 错误，不可恢复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42432" y="1920240"/>
            <a:ext cx="713232" cy="621792"/>
          </a:xfrm>
          <a:prstGeom prst="roundRect">
            <a:avLst>
              <a:gd name="adj" fmla="val 14706"/>
            </a:avLst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42432" y="1920240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2231136"/>
            <a:ext cx="146304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55664" y="2231136"/>
            <a:ext cx="146304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611112" y="1234440"/>
            <a:ext cx="5074920" cy="2011680"/>
          </a:xfrm>
          <a:prstGeom prst="roundRect">
            <a:avLst>
              <a:gd name="adj" fmla="val 4545"/>
            </a:avLst>
          </a:prstGeom>
          <a:solidFill>
            <a:srgbClr val="F0FDF4"/>
          </a:solidFill>
          <a:ln w="15875">
            <a:solidFill>
              <a:srgbClr val="BBF7D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39712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演进方案 · Recoverable 模型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85432" y="182880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SVA + 可缺页 IOMMU（SMMUv3 stall / PCIe PRI）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设备与进程共享 VA，页面按需调入、可回收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零拷贝：直接对 malloc 指针发起 DMA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缺页 → 暂停 → 内核补页 → 重试，对设备透明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五大瓶颈 → 演进机制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950208"/>
            <a:ext cx="2031797" cy="2148840"/>
          </a:xfrm>
          <a:prstGeom prst="roundRect">
            <a:avLst>
              <a:gd name="adj" fmla="val 40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08506" y="4114800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1308506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" y="4617720"/>
            <a:ext cx="18123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过度锁页挤压内存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5440680"/>
            <a:ext cx="148315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12648" y="5504688"/>
            <a:ext cx="1812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按需调页 · 页面可回收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90749" y="3950208"/>
            <a:ext cx="2031797" cy="2148840"/>
          </a:xfrm>
          <a:prstGeom prst="roundRect">
            <a:avLst>
              <a:gd name="adj" fmla="val 40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96335" y="4114800"/>
            <a:ext cx="420624" cy="42062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3596335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900477" y="4617720"/>
            <a:ext cx="18123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bounce buffer 浪费带宽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065069" y="5440680"/>
            <a:ext cx="148315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2900477" y="5504688"/>
            <a:ext cx="1812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 VA · 零拷贝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78578" y="3950208"/>
            <a:ext cx="2031797" cy="2148840"/>
          </a:xfrm>
          <a:prstGeom prst="roundRect">
            <a:avLst>
              <a:gd name="adj" fmla="val 40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84164" y="411480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5884164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88306" y="4617720"/>
            <a:ext cx="18123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缺乏每进程隔离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52898" y="5440680"/>
            <a:ext cx="148315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188306" y="5504688"/>
            <a:ext cx="1812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PASID/SSID · 2²⁰ 地址空间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366406" y="3950208"/>
            <a:ext cx="2031797" cy="2148840"/>
          </a:xfrm>
          <a:prstGeom prst="roundRect">
            <a:avLst>
              <a:gd name="adj" fmla="val 40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71993" y="4114800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8171993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476134" y="4617720"/>
            <a:ext cx="18123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VM 直通需静态映射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40726" y="5440680"/>
            <a:ext cx="148315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476134" y="5504688"/>
            <a:ext cx="1812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嵌套翻译 S1+S2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654235" y="3950208"/>
            <a:ext cx="2031797" cy="2148840"/>
          </a:xfrm>
          <a:prstGeom prst="roundRect">
            <a:avLst>
              <a:gd name="adj" fmla="val 40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0459822" y="4114800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4" name="Text 42"/>
          <p:cNvSpPr/>
          <p:nvPr/>
        </p:nvSpPr>
        <p:spPr>
          <a:xfrm>
            <a:off x="10459822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763963" y="4617720"/>
            <a:ext cx="18123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无用户态缺页投递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928555" y="5440680"/>
            <a:ext cx="148315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9763963" y="5504688"/>
            <a:ext cx="18123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IOMMUFD fault fd（2025）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内存方向调研 · insight / N+2 · IOMMU 缺页处理与共享虚拟寻址（SVA）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881360" y="645566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15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420624" cy="42062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60704" y="384048"/>
            <a:ext cx="9180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为什么需要 IOMMU：设备世界的 MMU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045952" y="475488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5952" y="4754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DMA 绕过 CPU 直接读写内存 —— 高吞吐，却带来四个根本问题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3246120" cy="1207008"/>
          </a:xfrm>
          <a:prstGeom prst="roundRect">
            <a:avLst>
              <a:gd name="adj" fmla="val 681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773936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737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1214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设备可达任意物理地址 → DMA 攻击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23360" y="1572768"/>
            <a:ext cx="3246120" cy="1207008"/>
          </a:xfrm>
          <a:prstGeom prst="roundRect">
            <a:avLst>
              <a:gd name="adj" fmla="val 681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773936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1737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寻址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212140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32-bit 设备无法访问高位内存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3246120" cy="1207008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23697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虚拟化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35844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GPA ≠ HPA，设备地址需再翻译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023360" y="3035808"/>
            <a:ext cx="3246120" cy="1207008"/>
          </a:xfrm>
          <a:prstGeom prst="roundRect">
            <a:avLst>
              <a:gd name="adj" fmla="val 6818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06240" y="323697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006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连续性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00600" y="35844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OS 分配页物理不连续 → scatter-gather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4498848"/>
            <a:ext cx="6492240" cy="1572768"/>
          </a:xfrm>
          <a:prstGeom prst="roundRect">
            <a:avLst>
              <a:gd name="adj" fmla="val 581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46451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IOMMU = CPU MMU 在设备世界的对应物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" y="5138928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1389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(StreamID)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286000" y="490118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IOVA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04288" y="5422392"/>
            <a:ext cx="82296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163824" y="5138928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3163824" y="51389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IOMMU · I/O 页表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92624" y="490118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F7D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10912" y="5422392"/>
            <a:ext cx="822960" cy="0"/>
          </a:xfrm>
          <a:prstGeom prst="line">
            <a:avLst/>
          </a:prstGeom>
          <a:noFill/>
          <a:ln w="25400">
            <a:solidFill>
              <a:srgbClr val="BBF7D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870448" y="5138928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0448" y="51389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579729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翻译 IOVA→PA · 权限检查 · per-device 隔离 · 自带 IOTLB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69480" y="109728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各平台 IOMMU 实现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572768"/>
          <a:ext cx="44165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70432"/>
                <a:gridCol w="132588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平台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IOMMU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设备标识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页表格式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Intel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VT-d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BDF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x86 多级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AMD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AMD-Vi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DeviceID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x86 多级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ARM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SMMUv3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StreamID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ARM LPAE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Apple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DART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设备绑定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自有 3–4 级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7269480" y="4069080"/>
            <a:ext cx="4416552" cy="2002536"/>
          </a:xfrm>
          <a:prstGeom prst="roundRect">
            <a:avLst>
              <a:gd name="adj" fmla="val 41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7479792" y="42062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关键观念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7479792" y="4590288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IOMMU 用 per-device I/O 页表把 IOVA 翻译成 PA，并做权限隔离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本调研聚焦 ARM SMMUv3（stall 模型）与 Apple DART（UMA 下的 terminate 模型）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00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DART 数据来自 Asahi Linux 逆向，苹果未公开微架构，仅供参考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内存方向调研 · insight / N+2 · IOMMU 缺页处理与共享虚拟寻址（SVA）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10881360" y="645566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15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420624" cy="42062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60704" y="384048"/>
            <a:ext cx="9180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SoC 片上互联架构：Apple M1 统一内存（UMA）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634472" y="47548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34472" y="47548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核心架构图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23560" y="1078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数据通路：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0" y="1207008"/>
            <a:ext cx="310896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784848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CPU 相干直连（不经 DART）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052560" y="1207008"/>
            <a:ext cx="310896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436608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 IOVA → DART 翻译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1481328"/>
            <a:ext cx="1965960" cy="841248"/>
          </a:xfrm>
          <a:prstGeom prst="roundRect">
            <a:avLst>
              <a:gd name="adj" fmla="val 9783"/>
            </a:avLst>
          </a:prstGeom>
          <a:solidFill>
            <a:srgbClr val="F0FDF4"/>
          </a:solidFill>
          <a:ln w="15875">
            <a:solidFill>
              <a:srgbClr val="BBF7D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15727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P-cluster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186537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4× Firestorm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0848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核内 MMU/TLB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93492" y="1481328"/>
            <a:ext cx="1965960" cy="841248"/>
          </a:xfrm>
          <a:prstGeom prst="roundRect">
            <a:avLst>
              <a:gd name="adj" fmla="val 9783"/>
            </a:avLst>
          </a:prstGeom>
          <a:solidFill>
            <a:srgbClr val="F0FDF4"/>
          </a:solidFill>
          <a:ln w="15875">
            <a:solidFill>
              <a:srgbClr val="BBF7D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93492" y="15727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E-cluster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793492" y="186537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4× Icestorm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93492" y="20848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核内 MMU/TLB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84064" y="1481328"/>
            <a:ext cx="1965960" cy="841248"/>
          </a:xfrm>
          <a:prstGeom prst="roundRect">
            <a:avLst>
              <a:gd name="adj" fmla="val 9783"/>
            </a:avLst>
          </a:prstGeom>
          <a:solidFill>
            <a:srgbClr val="F5F3FF"/>
          </a:solidFill>
          <a:ln w="15875">
            <a:solidFill>
              <a:srgbClr val="C4B5FD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84064" y="15727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GPU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84064" y="186537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cores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84064" y="20848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DMA master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74636" y="1481328"/>
            <a:ext cx="1965960" cy="841248"/>
          </a:xfrm>
          <a:prstGeom prst="roundRect">
            <a:avLst>
              <a:gd name="adj" fmla="val 9783"/>
            </a:avLst>
          </a:prstGeom>
          <a:solidFill>
            <a:srgbClr val="F5F3FF"/>
          </a:solidFill>
          <a:ln w="15875">
            <a:solidFill>
              <a:srgbClr val="C4B5FD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74636" y="15727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374636" y="186537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16-core NPU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74636" y="20848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DMA master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665208" y="1481328"/>
            <a:ext cx="1965960" cy="841248"/>
          </a:xfrm>
          <a:prstGeom prst="roundRect">
            <a:avLst>
              <a:gd name="adj" fmla="val 9783"/>
            </a:avLst>
          </a:prstGeom>
          <a:solidFill>
            <a:srgbClr val="F5F3FF"/>
          </a:solidFill>
          <a:ln w="15875">
            <a:solidFill>
              <a:srgbClr val="C4B5FD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65208" y="157276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Media / I/O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665208" y="186537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ISP · PCIe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65208" y="20848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DMA master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84064" y="2724912"/>
            <a:ext cx="6547104" cy="54864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84064" y="2724912"/>
            <a:ext cx="6547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DART · Apple IOMMU</a:t>
            </a:r>
            <a:pPr algn="ctr" indent="0" marL="0">
              <a:buNone/>
            </a:pPr>
            <a:r>
              <a:rPr lang="en-US" sz="1050" dirty="0">
                <a:solidFill>
                  <a:srgbClr val="E9D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 per-device IOVA → PA 翻译（每设备/每组独立）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67044" y="2322576"/>
            <a:ext cx="0" cy="402336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357616" y="2322576"/>
            <a:ext cx="0" cy="402336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48188" y="2322576"/>
            <a:ext cx="0" cy="402336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357616" y="3273552"/>
            <a:ext cx="0" cy="310896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485900" y="2322576"/>
            <a:ext cx="0" cy="1261872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776472" y="2322576"/>
            <a:ext cx="0" cy="1261872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548640" y="2907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CPU 不经 DART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3584448"/>
            <a:ext cx="11128248" cy="54864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02920" y="3584448"/>
            <a:ext cx="11128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Coherent Fabric / NoC</a:t>
            </a:r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   缓存一致性 + 路由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096305" y="4133088"/>
            <a:ext cx="0" cy="274320"/>
          </a:xfrm>
          <a:prstGeom prst="line">
            <a:avLst/>
          </a:prstGeom>
          <a:noFill/>
          <a:ln w="3175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127248" y="4407408"/>
            <a:ext cx="5934456" cy="530352"/>
          </a:xfrm>
          <a:prstGeom prst="roundRect">
            <a:avLst>
              <a:gd name="adj" fmla="val 15517"/>
            </a:avLst>
          </a:prstGeom>
          <a:solidFill>
            <a:srgbClr val="ECFEFF"/>
          </a:solidFill>
          <a:ln w="19050">
            <a:solidFill>
              <a:srgbClr val="A5F3FC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127248" y="4407408"/>
            <a:ext cx="5934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System Level Cache · 8 MB</a:t>
            </a:r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 所有 IP 共享的 memory-side cache（非 CPU L3）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096305" y="4937760"/>
            <a:ext cx="0" cy="292608"/>
          </a:xfrm>
          <a:prstGeom prst="line">
            <a:avLst/>
          </a:prstGeom>
          <a:noFill/>
          <a:ln w="3175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463040" y="5230368"/>
            <a:ext cx="100584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63040" y="52303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642616" y="5230368"/>
            <a:ext cx="100584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42616" y="52303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MC1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822192" y="5230368"/>
            <a:ext cx="100584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22192" y="52303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MC2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01768" y="5230368"/>
            <a:ext cx="100584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01768" y="52303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MC3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181344" y="5230368"/>
            <a:ext cx="100584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81344" y="52303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MC4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360920" y="5230368"/>
            <a:ext cx="100584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60920" y="52303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MC5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540496" y="5230368"/>
            <a:ext cx="100584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40496" y="52303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MC6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720072" y="5230368"/>
            <a:ext cx="1005840" cy="45720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720072" y="52303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MC7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0927080" y="52303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×8 内存通道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096305" y="5687568"/>
            <a:ext cx="0" cy="164592"/>
          </a:xfrm>
          <a:prstGeom prst="line">
            <a:avLst/>
          </a:prstGeom>
          <a:noFill/>
          <a:ln w="3175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02920" y="5852160"/>
            <a:ext cx="11128248" cy="45720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02920" y="585216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LPDDR4X-4266 · Unified Memory</a:t>
            </a:r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 8×16-bit = 128-bit · ~68 GB/s · ≤ 16 GB · ~91 ns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内存方向调研 · insight / N+2 · IOMMU 缺页处理与共享虚拟寻址（SVA）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0881360" y="645566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/ 15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420624" cy="42062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60704" y="384048"/>
            <a:ext cx="9180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问题背景：「全部锁页」模型的五大代价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045952" y="475488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5952" y="4754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瓶颈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6656" y="1408176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1408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89888" y="1325880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过度锁页挤压系统内存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09160" y="1316736"/>
            <a:ext cx="4160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GPU/NPU 锁页后页面不可回收/迁移/压缩/交换；8–12 GB 机型上单加速器锁 2–6 GB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06840" y="1389888"/>
            <a:ext cx="25420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25712" y="13898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   </a:t>
            </a:r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重负载下 Android LMKD 查杀率 ↑15–30%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2176272"/>
            <a:ext cx="1118311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6656" y="2377440"/>
            <a:ext cx="512064" cy="51206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89888" y="2295144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Bounce buffer 拷贝浪费带宽与 CPU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09160" y="2286000"/>
            <a:ext cx="4160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无共享寻址时 CPU 须把数据拷进/拷出设备可见的锁页缓冲区，带宽翻倍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2359152"/>
            <a:ext cx="25420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25712" y="23591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   </a:t>
            </a:r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消除后 NVMe/GPU CPU 开销 ↓40–60%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145536"/>
            <a:ext cx="11183112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" y="3346704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" y="3346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89888" y="3264408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缺乏每进程设备隔离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09160" y="3255264"/>
            <a:ext cx="4160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传统映射以设备粒度运作，多进程共享同一设备时无硬件级隔离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06840" y="3328416"/>
            <a:ext cx="25420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25712" y="33284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   </a:t>
            </a:r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PASID 提供 2²⁰ 个隔离地址空间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4114800"/>
            <a:ext cx="1118311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" y="4315968"/>
            <a:ext cx="512064" cy="5120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" y="4315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89888" y="4233672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VM 直通需静态内存分配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709160" y="4224528"/>
            <a:ext cx="4160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Hypervisor 须预映射整个 GPA 空间；热迁移需拆除并重建全部映射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06840" y="4297680"/>
            <a:ext cx="25420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25712" y="4297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   </a:t>
            </a:r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嵌套翻译：建立由秒级→近瞬时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2920" y="5084064"/>
            <a:ext cx="11183112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6656" y="5285232"/>
            <a:ext cx="512064" cy="51206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" y="5285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89888" y="520293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 缺页缺乏用户态投递路径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709160" y="5193792"/>
            <a:ext cx="4160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内核 IOPF 已能处理，但缺页困在内核，无法投递给 QEMU 等 VMM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06840" y="5266944"/>
            <a:ext cx="25420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25712" y="526694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   </a:t>
            </a:r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IOMMUFD fault fd（2025）打通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内存方向调研 · insight / N+2 · IOMMU 缺页处理与共享虚拟寻址（SVA）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881360" y="645566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/ 15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420624" cy="42062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60704" y="384048"/>
            <a:ext cx="9180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瓶颈证据汇总：锁页 DMA vs SVA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045952" y="475488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5952" y="4754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831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291840"/>
                <a:gridCol w="33192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问题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指标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锁页 DMA（原始）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SVA / 可缺页（演进）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内存锁页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移动 GPU 锁定内存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持续锁定 2–6 GB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按需调页，↓约 60–80%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Bounce buffer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CPU 拷贝开销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带宽翻倍，毫秒级延迟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零拷贝，完全消除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进程隔离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每设备硬件地址空间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1（共享）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最高 2²⁰（PASID）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VM 直通建立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映射耗时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秒级（全量预映射）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近瞬时（嵌套 + 缺页）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用户态投递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VMM 缺页处理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不支持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IOMMUFD fault fd（2025）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5074920"/>
            <a:ext cx="2590038" cy="1024128"/>
          </a:xfrm>
          <a:prstGeom prst="roundRect">
            <a:avLst>
              <a:gd name="adj" fmla="val 8929"/>
            </a:avLst>
          </a:prstGeom>
          <a:solidFill>
            <a:srgbClr val="F5F3FF"/>
          </a:solidFill>
          <a:ln w="15875">
            <a:solidFill>
              <a:srgbClr val="C4B5FD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5175504"/>
            <a:ext cx="25900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−60~80%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02920" y="5705856"/>
            <a:ext cx="25900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GPU/NPU 锁页内存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67278" y="5074920"/>
            <a:ext cx="2590038" cy="1024128"/>
          </a:xfrm>
          <a:prstGeom prst="roundRect">
            <a:avLst>
              <a:gd name="adj" fmla="val 8929"/>
            </a:avLst>
          </a:prstGeom>
          <a:solidFill>
            <a:srgbClr val="F5F3FF"/>
          </a:solidFill>
          <a:ln w="15875">
            <a:solidFill>
              <a:srgbClr val="C4B5FD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67278" y="5175504"/>
            <a:ext cx="25900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−40~60%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367278" y="5705856"/>
            <a:ext cx="25900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NVMe/GPU CPU 开销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1636" y="5074920"/>
            <a:ext cx="2590038" cy="1024128"/>
          </a:xfrm>
          <a:prstGeom prst="roundRect">
            <a:avLst>
              <a:gd name="adj" fmla="val 8929"/>
            </a:avLst>
          </a:prstGeom>
          <a:solidFill>
            <a:srgbClr val="F5F3FF"/>
          </a:solidFill>
          <a:ln w="15875">
            <a:solidFill>
              <a:srgbClr val="C4B5FD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31636" y="5175504"/>
            <a:ext cx="25900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2²⁰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231636" y="5705856"/>
            <a:ext cx="25900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PASID 隔离地址空间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095994" y="5074920"/>
            <a:ext cx="2590038" cy="1024128"/>
          </a:xfrm>
          <a:prstGeom prst="roundRect">
            <a:avLst>
              <a:gd name="adj" fmla="val 8929"/>
            </a:avLst>
          </a:prstGeom>
          <a:solidFill>
            <a:srgbClr val="F5F3FF"/>
          </a:solidFill>
          <a:ln w="15875">
            <a:solidFill>
              <a:srgbClr val="C4B5FD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095994" y="5175504"/>
            <a:ext cx="25900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≈ 0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9095994" y="5705856"/>
            <a:ext cx="25900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bounce buffer 拷贝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内存方向调研 · insight / N+2 · IOMMU 缺页处理与共享虚拟寻址（SVA）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881360" y="645566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/ 15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420624" cy="42062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60704" y="384048"/>
            <a:ext cx="9180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IOMMU 故障模型：terminate vs recoverable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771632" y="47548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71632" y="4754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机制分叉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 IOMMU 不能像 CPU 那样直接缺页？CPU 有精确异常可回退重发；但 DMA 事务已在总线上跑，需硬件协议让「出错事务可暂停、再重试」。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EF2F2"/>
          </a:solidFill>
          <a:ln w="15875">
            <a:solidFill>
              <a:srgbClr val="FECACA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8105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Terminate（中止）· 经典 DMA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249424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驱动提前 pin 缓冲页、建好 IOVA→PA 映射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翻译失败（配置错/攻击）= 检测并上报、中止该 DMA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页全程不换出，确定性强、延迟低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缺点：占住内存、需显式 map/unmap、无法零拷贝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45352" y="1664208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0FDF4"/>
          </a:solidFill>
          <a:ln w="15875">
            <a:solidFill>
              <a:srgbClr val="BBF7D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73952" y="18105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Recoverable（可恢复）· SVA / SVM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2249424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bind(process)：设备直接用 malloc 指针、共享进程页表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缺页 → 暂停事务 → OS 补页 → 重试，对设备透明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demand page · shared PT · 零拷贝、编程简单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缺点：缺页延迟、需完整硬件链、设备可能被 stall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2245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可恢复模型的两条实现路径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572000"/>
          <a:ext cx="6492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25603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PCIe PRI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ARM SMMU stall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暂停位置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设备内部（需 ATC）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SMMU 内部（不需 ATC）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上报方式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设备发 Page Request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SMMU 写 evtq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OS 响应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Page Response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CMD_RESUME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设备要求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高（ATS+ATC+PRI）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低（声明 stall-tolerant）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适用场景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PCIe 设备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片上平台设备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7269480" y="4224528"/>
            <a:ext cx="4416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各平台落点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69480" y="4572000"/>
            <a:ext cx="4416552" cy="82296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52360" y="45720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Terminate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Apple DART · Intel VT-d(legacy) · AMD-Vi(legacy)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269480" y="5504688"/>
            <a:ext cx="4416552" cy="82296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52360" y="550468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Recoverable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SMMUv3 stall/PRI · VT-d(scalable) · AMD-Vi v2+PRI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内存方向调研 · insight / N+2 · IOMMU 缺页处理与共享虚拟寻址（SVA）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881360" y="645566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/ 15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420624" cy="42062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60704" y="384048"/>
            <a:ext cx="9180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数据通路对比：锁页 DMA vs 可缺页 SVA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771632" y="47548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71632" y="4754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架构对比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5875">
            <a:solidFill>
              <a:srgbClr val="FECACA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33502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原始：锁页 DMA + 固定 IOMMU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234440" y="182880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34440" y="18288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CPU / 进程</a:t>
            </a:r>
            <a:pPr algn="ctr" indent="0" marL="0">
              <a:lnSpc>
                <a:spcPct val="95000"/>
              </a:lnSpc>
              <a:buNone/>
            </a:pP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malloc → pin_pages()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3260" y="2468880"/>
            <a:ext cx="0" cy="292608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34440" y="2761488"/>
            <a:ext cx="3977640" cy="841248"/>
          </a:xfrm>
          <a:prstGeom prst="roundRect">
            <a:avLst>
              <a:gd name="adj" fmla="val 8696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34440" y="2761488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IOMMU（固定映射）</a:t>
            </a:r>
            <a:pPr algn="ctr" indent="0" marL="0">
              <a:lnSpc>
                <a:spcPct val="95000"/>
              </a:lnSpc>
              <a:buNone/>
            </a:pP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IOVA→PA 静态预编程 · 不支持缺页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每设备功能仅一个地址空间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23260" y="3602736"/>
            <a:ext cx="0" cy="292608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234440" y="3895344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34440" y="389534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 GPU/NPU</a:t>
            </a:r>
            <a:pPr algn="ctr" indent="0" marL="0">
              <a:lnSpc>
                <a:spcPct val="95000"/>
              </a:lnSpc>
              <a:buNone/>
            </a:pP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DMA 用翻译后 PA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34440" y="4846320"/>
            <a:ext cx="1897380" cy="713232"/>
          </a:xfrm>
          <a:prstGeom prst="roundRect">
            <a:avLst>
              <a:gd name="adj" fmla="val 10256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846320"/>
            <a:ext cx="18973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锁页缓冲区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(永久锁定)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14700" y="4846320"/>
            <a:ext cx="18973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314700" y="4846320"/>
            <a:ext cx="18973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可换出内存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(闲置/挤压)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57424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页面永久锁定，需 bounce buffer 拷贝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45352" y="1188720"/>
            <a:ext cx="5440680" cy="502920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5875">
            <a:solidFill>
              <a:srgbClr val="BBF7D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73952" y="133502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演进：SVA + 可缺页 IOMMU（SMMUv3）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976872" y="182880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76872" y="18288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CPU / 进程</a:t>
            </a:r>
            <a:pPr algn="ctr" indent="0" marL="0">
              <a:lnSpc>
                <a:spcPct val="95000"/>
              </a:lnSpc>
              <a:buNone/>
            </a:pP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与设备共享同一 VA（无需锁页）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65692" y="2468880"/>
            <a:ext cx="0" cy="292608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76872" y="2761488"/>
            <a:ext cx="3977640" cy="950976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76872" y="2761488"/>
            <a:ext cx="3977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IOMMU / SMMUv3（可缺页）</a:t>
            </a:r>
            <a:pPr algn="ctr" indent="0" marL="0">
              <a:lnSpc>
                <a:spcPct val="95000"/>
              </a:lnSpc>
              <a:buNone/>
            </a:pP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PASID→每进程页表 · stall+IOPF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ATS 设备 IOTLB · PRI 缺页请求 · 嵌套翻译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965692" y="3712464"/>
            <a:ext cx="0" cy="27432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976872" y="3986784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76872" y="398678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 GPU/NPU + PASID</a:t>
            </a:r>
            <a:pPr algn="ctr" indent="0" marL="0">
              <a:lnSpc>
                <a:spcPct val="95000"/>
              </a:lnSpc>
              <a:buNone/>
            </a:pP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零拷贝 · 同一 VA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76872" y="4864608"/>
            <a:ext cx="1897380" cy="713232"/>
          </a:xfrm>
          <a:prstGeom prst="roundRect">
            <a:avLst>
              <a:gd name="adj" fmla="val 1025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76872" y="4864608"/>
            <a:ext cx="18973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共享页面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(未锁定=可回收)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92540" y="5221224"/>
            <a:ext cx="237744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triangl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57132" y="4864608"/>
            <a:ext cx="18973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7132" y="4864608"/>
            <a:ext cx="18973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换出/迁移/压缩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(按需调入)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73952" y="57424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无锁页 · 无 bounce buffer · PASID 每进程隔离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内存方向调研 · insight / N+2 · IOMMU 缺页处理与共享虚拟寻址（SVA）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881360" y="645566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/ 15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420624" cy="42062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60704" y="384048"/>
            <a:ext cx="9180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ARM SMMU stall：可恢复缺页完整时序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771632" y="47548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71632" y="4754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680960" y="109728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918704" y="10241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714232" y="109728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8951976" y="10241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SMMU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0" y="1097280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9838944" y="10241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OS / kernel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2046427" cy="1481328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5875">
            <a:solidFill>
              <a:srgbClr val="BFDBF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288390" y="1719072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288390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2249424"/>
            <a:ext cx="18635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DMA 请求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" y="2560320"/>
            <a:ext cx="18269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设备发出 DMA（VA + SSID）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87091" y="1572768"/>
            <a:ext cx="2046427" cy="1481328"/>
          </a:xfrm>
          <a:prstGeom prst="roundRect">
            <a:avLst>
              <a:gd name="adj" fmla="val 5556"/>
            </a:avLst>
          </a:prstGeom>
          <a:solidFill>
            <a:srgbClr val="F5F3FF"/>
          </a:solidFill>
          <a:ln w="15875">
            <a:solidFill>
              <a:srgbClr val="C4B5FD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72561" y="1719072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572561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878531" y="2249424"/>
            <a:ext cx="18635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走 stage-1 页表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96819" y="2560320"/>
            <a:ext cx="18269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STE→CD→页表，遇无效 PTE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71262" y="1572768"/>
            <a:ext cx="2046427" cy="1481328"/>
          </a:xfrm>
          <a:prstGeom prst="roundRect">
            <a:avLst>
              <a:gd name="adj" fmla="val 5556"/>
            </a:avLst>
          </a:prstGeom>
          <a:solidFill>
            <a:srgbClr val="F5F3FF"/>
          </a:solidFill>
          <a:ln w="15875">
            <a:solidFill>
              <a:srgbClr val="C4B5FD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56732" y="1719072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856732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62702" y="2249424"/>
            <a:ext cx="18635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STALL · park 事务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80990" y="2560320"/>
            <a:ext cx="18269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暂停该事务，同上下文后续也停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55434" y="1572768"/>
            <a:ext cx="2046427" cy="1481328"/>
          </a:xfrm>
          <a:prstGeom prst="roundRect">
            <a:avLst>
              <a:gd name="adj" fmla="val 5556"/>
            </a:avLst>
          </a:prstGeom>
          <a:solidFill>
            <a:srgbClr val="F5F3FF"/>
          </a:solidFill>
          <a:ln w="15875">
            <a:solidFill>
              <a:srgbClr val="C4B5FD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40903" y="1719072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8140903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46874" y="2249424"/>
            <a:ext cx="18635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 evtq + 中断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65162" y="2560320"/>
            <a:ext cx="18269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 SID/SSID/IOVA/type/STAG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639605" y="1572768"/>
            <a:ext cx="2046427" cy="1481328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 w="15875">
            <a:solidFill>
              <a:srgbClr val="BBF7D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425074" y="1719072"/>
            <a:ext cx="475488" cy="47548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10425074" y="1719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731045" y="2249424"/>
            <a:ext cx="18635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evtq IRQ 解析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749333" y="2560320"/>
            <a:ext cx="18269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SID→device，SSID→进程 mm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639605" y="3621024"/>
            <a:ext cx="2046427" cy="1481328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 w="15875">
            <a:solidFill>
              <a:srgbClr val="BBF7D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425074" y="3767328"/>
            <a:ext cx="475488" cy="47548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0" name="Text 38"/>
          <p:cNvSpPr/>
          <p:nvPr/>
        </p:nvSpPr>
        <p:spPr>
          <a:xfrm>
            <a:off x="10425074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⑥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731045" y="4297680"/>
            <a:ext cx="18635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IOPF 处理（可睡眠）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749333" y="4608576"/>
            <a:ext cx="18269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handle_mm_fault：分配/swap-in/COW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55434" y="3621024"/>
            <a:ext cx="2046427" cy="1481328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 w="15875">
            <a:solidFill>
              <a:srgbClr val="BBF7D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140903" y="3767328"/>
            <a:ext cx="475488" cy="47548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5" name="Text 43"/>
          <p:cNvSpPr/>
          <p:nvPr/>
        </p:nvSpPr>
        <p:spPr>
          <a:xfrm>
            <a:off x="8140903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⑦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446874" y="4297680"/>
            <a:ext cx="18635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TLBI 失效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465162" y="4608576"/>
            <a:ext cx="18269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清除 SMMU 旧缓存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071262" y="3621024"/>
            <a:ext cx="2046427" cy="1481328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 w="15875">
            <a:solidFill>
              <a:srgbClr val="BBF7D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856732" y="3767328"/>
            <a:ext cx="475488" cy="47548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0" name="Text 48"/>
          <p:cNvSpPr/>
          <p:nvPr/>
        </p:nvSpPr>
        <p:spPr>
          <a:xfrm>
            <a:off x="5856732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⑧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5162702" y="4297680"/>
            <a:ext cx="18635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CMD_RESUME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80990" y="4608576"/>
            <a:ext cx="18269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via cmdq：retry（或 abort）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87091" y="3621024"/>
            <a:ext cx="2046427" cy="1481328"/>
          </a:xfrm>
          <a:prstGeom prst="roundRect">
            <a:avLst>
              <a:gd name="adj" fmla="val 5556"/>
            </a:avLst>
          </a:prstGeom>
          <a:solidFill>
            <a:srgbClr val="F5F3FF"/>
          </a:solidFill>
          <a:ln w="15875">
            <a:solidFill>
              <a:srgbClr val="C4B5FD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572561" y="3767328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5" name="Text 53"/>
          <p:cNvSpPr/>
          <p:nvPr/>
        </p:nvSpPr>
        <p:spPr>
          <a:xfrm>
            <a:off x="3572561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⑨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2878531" y="4297680"/>
            <a:ext cx="18635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重新走页表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896819" y="4608576"/>
            <a:ext cx="18269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这次翻译成功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02920" y="3621024"/>
            <a:ext cx="2046427" cy="1481328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5875">
            <a:solidFill>
              <a:srgbClr val="BFDBF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1288390" y="376732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0" name="Text 58"/>
          <p:cNvSpPr/>
          <p:nvPr/>
        </p:nvSpPr>
        <p:spPr>
          <a:xfrm>
            <a:off x="1288390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⑩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594360" y="4297680"/>
            <a:ext cx="18635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DMA 完成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12648" y="4608576"/>
            <a:ext cx="18269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对设备完全透明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567635" y="2313432"/>
            <a:ext cx="20116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851806" y="2313432"/>
            <a:ext cx="20116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7135978" y="2313432"/>
            <a:ext cx="20116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9420149" y="2313432"/>
            <a:ext cx="20116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0662818" y="3054096"/>
            <a:ext cx="0" cy="530352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9420149" y="4361688"/>
            <a:ext cx="20116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triangle"/>
          </a:ln>
        </p:spPr>
      </p:sp>
      <p:sp>
        <p:nvSpPr>
          <p:cNvPr id="69" name="Shape 67"/>
          <p:cNvSpPr/>
          <p:nvPr/>
        </p:nvSpPr>
        <p:spPr>
          <a:xfrm>
            <a:off x="7135978" y="4361688"/>
            <a:ext cx="20116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triangle"/>
          </a:ln>
        </p:spPr>
      </p:sp>
      <p:sp>
        <p:nvSpPr>
          <p:cNvPr id="70" name="Shape 68"/>
          <p:cNvSpPr/>
          <p:nvPr/>
        </p:nvSpPr>
        <p:spPr>
          <a:xfrm>
            <a:off x="4851806" y="4361688"/>
            <a:ext cx="20116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triangle"/>
          </a:ln>
        </p:spPr>
      </p:sp>
      <p:sp>
        <p:nvSpPr>
          <p:cNvPr id="71" name="Shape 69"/>
          <p:cNvSpPr/>
          <p:nvPr/>
        </p:nvSpPr>
        <p:spPr>
          <a:xfrm>
            <a:off x="2567635" y="4361688"/>
            <a:ext cx="20116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triangle"/>
          </a:ln>
        </p:spPr>
      </p:sp>
      <p:sp>
        <p:nvSpPr>
          <p:cNvPr id="72" name="Shape 70"/>
          <p:cNvSpPr/>
          <p:nvPr/>
        </p:nvSpPr>
        <p:spPr>
          <a:xfrm>
            <a:off x="502920" y="5870448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520" y="587044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若 OS 判定非法访问 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（越界 / 权限不符）</a:t>
            </a:r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，第 ⑧ 步发 CMD_RESUME(abort) 而非 retry —— 事务终止，SMMU 向设备返回错误。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内存方向调研 · insight / N+2 · IOMMU 缺页处理与共享虚拟寻址（SVA）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0881360" y="645566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/ 15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420624" cy="42062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60704" y="384048"/>
            <a:ext cx="9180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三侧机制全景：Device · SMMU · OS（A–L）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771632" y="475488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71632" y="4754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机制总表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3532632" cy="5029200"/>
          </a:xfrm>
          <a:prstGeom prst="roundRect">
            <a:avLst>
              <a:gd name="adj" fmla="val 2588"/>
            </a:avLst>
          </a:prstGeom>
          <a:solidFill>
            <a:srgbClr val="F8FAFC"/>
          </a:solidFill>
          <a:ln w="15875">
            <a:solidFill>
              <a:srgbClr val="BFDBFE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188720"/>
            <a:ext cx="3532632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88720"/>
            <a:ext cx="3532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Device 侧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7512" y="2743200"/>
            <a:ext cx="320344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" y="2907792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07592" y="2843784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Stall-tolerant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307592" y="3127248"/>
            <a:ext cx="254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被暂停不死锁 · 需 RTL 改动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" y="3602736"/>
            <a:ext cx="320344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" y="3767328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07592" y="3703320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SSID/PASID 标签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307592" y="3986784"/>
            <a:ext cx="254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标识地址空间 · 需总线接口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7512" y="4462272"/>
            <a:ext cx="320344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626864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07592" y="4562856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固件声明能力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307592" y="4846320"/>
            <a:ext cx="254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DT/ACPI IORT · 仅固件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28160" y="1188720"/>
            <a:ext cx="3532632" cy="5029200"/>
          </a:xfrm>
          <a:prstGeom prst="roundRect">
            <a:avLst>
              <a:gd name="adj" fmla="val 2588"/>
            </a:avLst>
          </a:prstGeom>
          <a:solidFill>
            <a:srgbClr val="F8FAFC"/>
          </a:solidFill>
          <a:ln w="15875">
            <a:solidFill>
              <a:srgbClr val="C4B5FD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28160" y="1188720"/>
            <a:ext cx="3532632" cy="54864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328160" y="1188720"/>
            <a:ext cx="3532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SMMU 侧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492752" y="2313432"/>
            <a:ext cx="320344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20768" y="247802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620768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32832" y="2414016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STE/CD + stall 位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132832" y="2697480"/>
            <a:ext cx="254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配置翻译与 stall 策略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92752" y="3172968"/>
            <a:ext cx="320344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20768" y="333756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4620768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32832" y="3273552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Event Queue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132832" y="3557016"/>
            <a:ext cx="254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故障异步上报 OS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492752" y="4032504"/>
            <a:ext cx="320344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20768" y="4197096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4620768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32832" y="4133088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CMD_RESUME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132832" y="4416552"/>
            <a:ext cx="254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OS 控制 retry / abort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492752" y="4892040"/>
            <a:ext cx="320344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20768" y="5056632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4620768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132832" y="4992624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Park + re-walk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132832" y="5276088"/>
            <a:ext cx="254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保存并重试事务（核心硬件代价）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153400" y="1188720"/>
            <a:ext cx="3532632" cy="5029200"/>
          </a:xfrm>
          <a:prstGeom prst="roundRect">
            <a:avLst>
              <a:gd name="adj" fmla="val 2588"/>
            </a:avLst>
          </a:prstGeom>
          <a:solidFill>
            <a:srgbClr val="F8FAFC"/>
          </a:solidFill>
          <a:ln w="15875">
            <a:solidFill>
              <a:srgbClr val="BBF7D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153400" y="1188720"/>
            <a:ext cx="3532632" cy="5486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50" name="Text 48"/>
          <p:cNvSpPr/>
          <p:nvPr/>
        </p:nvSpPr>
        <p:spPr>
          <a:xfrm>
            <a:off x="8153400" y="1188720"/>
            <a:ext cx="3532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OS 侧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8317992" y="1883664"/>
            <a:ext cx="320344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46008" y="2048256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3" name="Text 51"/>
          <p:cNvSpPr/>
          <p:nvPr/>
        </p:nvSpPr>
        <p:spPr>
          <a:xfrm>
            <a:off x="8446008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958072" y="1984248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SVA bind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958072" y="2267712"/>
            <a:ext cx="254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分配 PASID、绑定进程页表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317992" y="2743200"/>
            <a:ext cx="320344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46008" y="2907792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8" name="Text 56"/>
          <p:cNvSpPr/>
          <p:nvPr/>
        </p:nvSpPr>
        <p:spPr>
          <a:xfrm>
            <a:off x="8446008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958072" y="2843784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IOPF 处理器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8958072" y="3127248"/>
            <a:ext cx="254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可睡眠 · 复用 handle_mm_fault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317992" y="3602736"/>
            <a:ext cx="320344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446008" y="3767328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3" name="Text 61"/>
          <p:cNvSpPr/>
          <p:nvPr/>
        </p:nvSpPr>
        <p:spPr>
          <a:xfrm>
            <a:off x="8446008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958072" y="3703320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evtq 解析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8958072" y="3986784"/>
            <a:ext cx="254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SID/SSID → 进程 mm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317992" y="4462272"/>
            <a:ext cx="320344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446008" y="4626864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8" name="Text 66"/>
          <p:cNvSpPr/>
          <p:nvPr/>
        </p:nvSpPr>
        <p:spPr>
          <a:xfrm>
            <a:off x="8446008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8958072" y="4562856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补页 → CMD_RESUME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8958072" y="4846320"/>
            <a:ext cx="254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OS 有 retry/abort 裁判权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317992" y="5321808"/>
            <a:ext cx="320344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46008" y="548640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3" name="Text 71"/>
          <p:cNvSpPr/>
          <p:nvPr/>
        </p:nvSpPr>
        <p:spPr>
          <a:xfrm>
            <a:off x="84460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8958072" y="5422392"/>
            <a:ext cx="252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mmu_notifier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8958072" y="5705856"/>
            <a:ext cx="254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页表变动同步失效（一致性基石）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内存方向调研 · insight / N+2 · IOMMU 缺页处理与共享虚拟寻址（SVA）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10881360" y="645566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15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420624" cy="42062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60704" y="384048"/>
            <a:ext cx="9180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量化对比：锁页 DMA + 固定 IOMMU vs SVA + 可缺页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08792" y="475488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08792" y="47548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总对比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1118311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40507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锁页 DMA + 固定 IOMMU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SVA + 可缺页 IOMMU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内存锁页（移动 GPU）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2–6 GB 持续锁定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按需调页，↓约 60–80%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Bounce buffer 拷贝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必需（CPU↔设备传输）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消除（零拷贝，共享 VA）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每设备硬件地址空间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1（单映射）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最高 2²⁰（PASID）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页面迁移 / 换出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锁页页不可操作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完全支持，访问时按需调入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VM 直通建立耗时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秒级（全量预映射）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近瞬时（嵌套翻译 + 缺页）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用户态缺页投递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不支持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IOMMUFD fault fd（6.x, 2025）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设备缺页处理方式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中止（DMAR 错误）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暂停 + 解析 + 重试（stall）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设备端 TLB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ATS IOTLB + PRI 缺页通知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硬件要求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基础 IOMMU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PASID+ATS+PRI（PCIe 4.0+）或 SMMUv3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内存方向调研 · insight / N+2 · IOMMU 缺页处理与共享虚拟寻址（SVA）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881360" y="645566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15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512064" cy="420624"/>
          </a:xfrm>
          <a:prstGeom prst="roundRect">
            <a:avLst>
              <a:gd name="adj" fmla="val 21739"/>
            </a:avLst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97864" y="384048"/>
            <a:ext cx="9043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收益与尚未解决的问题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045952" y="475488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5952" y="4754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权衡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5440680" cy="4956048"/>
          </a:xfrm>
          <a:prstGeom prst="roundRect">
            <a:avLst>
              <a:gd name="adj" fmla="val 1845"/>
            </a:avLst>
          </a:prstGeom>
          <a:solidFill>
            <a:srgbClr val="F0FDF4"/>
          </a:solidFill>
          <a:ln w="15875">
            <a:solidFill>
              <a:srgbClr val="BBF7D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37160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 收益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1956816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19019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消除强制锁页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22128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页面可按需调页/换出/迁移/压缩，释放 60–80% 内存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798064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27432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去除 bounce buffer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0432" y="305409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CPU 与设备共享 VA，大型传输有效带宽减半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639312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70432" y="35844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每进程设备隔离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0432" y="38953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PASID 最多 2²⁰ 隔离地址空间，安全多租户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448056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70432" y="44256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透明 VM 直通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47365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嵌套翻译：客户机 S1 + 宿主 S2，支持热迁移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5321808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70432" y="526694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打通用户态缺页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70432" y="5577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IOMMUFD 让 QEMU 针对客户机页表处理设备缺页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45352" y="1207008"/>
            <a:ext cx="5440680" cy="4956048"/>
          </a:xfrm>
          <a:prstGeom prst="roundRect">
            <a:avLst>
              <a:gd name="adj" fmla="val 1845"/>
            </a:avLst>
          </a:prstGeom>
          <a:solidFill>
            <a:srgbClr val="FFFBEB"/>
          </a:solidFill>
          <a:ln w="15875">
            <a:solidFill>
              <a:srgbClr val="FDE68A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19672" y="137160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  尚未解决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19672" y="1956816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6519672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!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12864" y="19019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缺页延迟代价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12864" y="22128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缺页暂停 DMA 至补页完成；实时负载难容忍微秒级暂停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19672" y="2798064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6519672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!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12864" y="27432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IOTLB 抖动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12864" y="305409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大量并发 PASID 下设备 IOTLB 容量承压，PRI 淹没缺页队列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519672" y="3639312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6519672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!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12864" y="358444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旧设备兼容性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12864" y="38953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 PASID+ATS+PRI 或 SMMUv3 stall；旧设备退回锁页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519672" y="448056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6519672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!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12864" y="44256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CPU 缓存一致性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12864" y="47365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SVA 共享翻译但不天然一致，需 CXL.cache / CHI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519672" y="532180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8" name="Text 46"/>
          <p:cNvSpPr/>
          <p:nvPr/>
        </p:nvSpPr>
        <p:spPr>
          <a:xfrm>
            <a:off x="6519672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!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12864" y="526694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安全攻击面扩大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12864" y="5577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进程页表暴露给设备，被入侵固件可遍历/恶意缺页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内存方向调研 · insight / N+2 · IOMMU 缺页处理与共享虚拟寻址（SVA）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0881360" y="645566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15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512064" cy="420624"/>
          </a:xfrm>
          <a:prstGeom prst="roundRect">
            <a:avLst>
              <a:gd name="adj" fmla="val 21739"/>
            </a:avLst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97864" y="384048"/>
            <a:ext cx="9043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开放问题与未来方向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045952" y="475488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5952" y="4754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展望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3544824" cy="2331720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2376" y="144475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07592" y="1463040"/>
            <a:ext cx="258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缺页延迟 SLA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0664" y="2048256"/>
            <a:ext cx="3087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stall 解析需数十微秒。预测式预缺页 / 投机解析能否压到 1 µs 以下？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2064" y="1207008"/>
            <a:ext cx="3544824" cy="2331720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41520" y="1444752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54152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26736" y="1463040"/>
            <a:ext cx="258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IOTLB 扩展性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9808" y="2048256"/>
            <a:ext cx="3087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并发 PASID 增长下设备 IOTLB 成瓶颈。替换策略？PRI 是否需优先级分级？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41208" y="1207008"/>
            <a:ext cx="3544824" cy="2331720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60664" y="144475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8360664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945880" y="1463040"/>
            <a:ext cx="258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一致性融合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78952" y="2048256"/>
            <a:ext cx="3087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SVA 解决翻译共享、未解决数据一致性。IOMMU 页表与 CPU 一致性目录会否合并？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831336"/>
            <a:ext cx="3544824" cy="2331720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2376" y="406908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307592" y="4087368"/>
            <a:ext cx="258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安全加固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0664" y="4672584"/>
            <a:ext cx="3087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共享页表扩大攻击面。硬件页表完整性（如设备版 RME）能否防恶意缺页注入？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22064" y="3831336"/>
            <a:ext cx="3544824" cy="2331720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41520" y="406908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454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126736" y="4087368"/>
            <a:ext cx="258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移动端落地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59808" y="4672584"/>
            <a:ext cx="3087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SMMUv3（stall + PASID）架构已定义但未普及。Android 何时搭载完整 SVA？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41208" y="3831336"/>
            <a:ext cx="3544824" cy="2331720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E293B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60664" y="406908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8360664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945880" y="4087368"/>
            <a:ext cx="2584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NVMe 计算存储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78952" y="4672584"/>
            <a:ext cx="3087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存储设备可容忍微秒级延迟。SVA 会否在存储场景先于 GPU 成熟？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内存方向调研 · insight / N+2 · IOMMU 缺页处理与共享虚拟寻址（SVA）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881360" y="645566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/ 15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554480"/>
            <a:ext cx="4206240" cy="4206240"/>
          </a:xfrm>
          <a:prstGeom prst="ellipse">
            <a:avLst/>
          </a:prstGeom>
          <a:solidFill>
            <a:srgbClr val="7C3AED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A78BF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A78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一词概括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4672" y="1874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Faultability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841248" y="3154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可缺页化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41248" y="4114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允许设备像 CPU 几十年来所做的那样，对未映射页面触发缺页 ——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从而为整个设备生态解锁按需调页、共享寻址与内存弹性。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" y="5212080"/>
            <a:ext cx="240030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53035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−60~80%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41248" y="5779008"/>
            <a:ext cx="2400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GPU/NPU 锁页内存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15868" y="5212080"/>
            <a:ext cx="240030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5868" y="53035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2²⁰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15868" y="5779008"/>
            <a:ext cx="2400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PASID 隔离空间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0488" y="5212080"/>
            <a:ext cx="240030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88" y="53035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零拷贝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90488" y="5779008"/>
            <a:ext cx="2400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 VA · 无 bounce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65108" y="5212080"/>
            <a:ext cx="240030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5108" y="53035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865108" y="5779008"/>
            <a:ext cx="2400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IOMMUFD fault fd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1248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内存方向调研 · insight / N+2 · IOMMU 缺页处理与共享虚拟寻址（SVA）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512064" cy="420624"/>
          </a:xfrm>
          <a:prstGeom prst="roundRect">
            <a:avLst>
              <a:gd name="adj" fmla="val 21739"/>
            </a:avLst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29768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97864" y="384048"/>
            <a:ext cx="9043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参考文献 / References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045952" y="475488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5952" y="4754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5408676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8132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97864" y="1353312"/>
            <a:ext cx="4539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LWN.net (2025)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97864" y="1655064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Delivering IOMMUFD IO Page Faults to User Space — Articles/980399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77356" y="1234440"/>
            <a:ext cx="5408676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0236" y="1481328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460236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72300" y="1353312"/>
            <a:ext cx="4539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72300" y="1655064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SMMUv3 Architecture Reference Manual (IHI0070)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221992"/>
            <a:ext cx="5408676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46888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97864" y="2340864"/>
            <a:ext cx="4539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PCI-SIG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97864" y="2642616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PCIe Base Spec 4.0 — ATS / PRI / PASID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77356" y="2221992"/>
            <a:ext cx="5408676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0236" y="246888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460236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72300" y="2340864"/>
            <a:ext cx="4539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Linux Kernel Docs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72300" y="2642616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IOMMU · IOPF · SVA · IOMMUFD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3209544"/>
            <a:ext cx="5408676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456432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97864" y="3328416"/>
            <a:ext cx="4539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Tian, K. et al. (KVM Forum 2023)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97864" y="3630168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IOMMUFD-Based Device Passthrough with Nested Translation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77356" y="3209544"/>
            <a:ext cx="5408676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60236" y="3456432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6460236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72300" y="3328416"/>
            <a:ext cx="4539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Samsung (LSFMM 2023–24)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72300" y="3630168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ATS/PRI Support for NVMe Computational Storage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4197096"/>
            <a:ext cx="5408676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444398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97864" y="4315968"/>
            <a:ext cx="4539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Kang, Y. et al. (2021)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97864" y="4617720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Fault Handling on SVM-enabled GPUs — IEEE CAL 20(2)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77356" y="4197096"/>
            <a:ext cx="5408676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60236" y="444398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6460236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72300" y="4315968"/>
            <a:ext cx="4539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Markuze, A. et al. (ASPLOS 2021)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972300" y="4617720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DAMN: Overhead-Free IOMMU Protection for Networking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" y="5184648"/>
            <a:ext cx="5408676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" y="5431536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9" name="Text 47"/>
          <p:cNvSpPr/>
          <p:nvPr/>
        </p:nvSpPr>
        <p:spPr>
          <a:xfrm>
            <a:off x="685800" y="5431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197864" y="5303520"/>
            <a:ext cx="4539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Jean-Philippe Brucker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1197864" y="5605272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Shared Virtual Addressing for the IOMMU (LWN, kernel patchsets)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77356" y="5184648"/>
            <a:ext cx="5408676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60236" y="5431536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6460236" y="5431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972300" y="5303520"/>
            <a:ext cx="4539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Asahi Linux / AnandTech / 7-cpu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972300" y="5605272"/>
            <a:ext cx="4539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apple-dart.c 逆向 · M1 Firestorm 微架构 · cache/TLB 实测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02920" y="64556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内存方向调研 · insight / N+2 · IOMMU 缺页处理与共享虚拟寻址（SVA）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0881360" y="645566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/ 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内存方向调研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IOMMU 缺页处理与共享虚拟寻址 (SVA)</dc:title>
  <dc:subject>PptxGenJS Presentation</dc:subject>
  <dc:creator>memory_insight</dc:creator>
  <cp:lastModifiedBy>memory_insight</cp:lastModifiedBy>
  <cp:revision>1</cp:revision>
  <dcterms:created xsi:type="dcterms:W3CDTF">2026-06-29T16:55:59Z</dcterms:created>
  <dcterms:modified xsi:type="dcterms:W3CDTF">2026-06-29T16:55:59Z</dcterms:modified>
</cp:coreProperties>
</file>