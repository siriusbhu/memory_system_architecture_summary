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 片上互联与多级缓存全景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68680" y="3063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4B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N+2 调研的七个洞察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38862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 IP（CPU/GPU/NPU）→ CMN 一致性网格（AMBA CHI）→ IOMMU / 内存控制器 / CXL → LPDDR DRAM（PIM / PuD）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709160"/>
            <a:ext cx="38404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内存系统-片上互联-多IP一致性协同优化设计研究 · 调研范围 2023–2026 · 7 个主题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566928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35608" y="566928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5608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02536" y="566928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02536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69464" y="566928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9464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36392" y="566928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03320" y="566928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70248" y="566928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0248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框架总览：SoC 片上互联与多级缓存全景</a:t>
            </a:r>
            <a:endParaRPr lang="en-US" sz="2800" dirty="0"/>
          </a:p>
        </p:txBody>
      </p:sp>
      <p:pic>
        <p:nvPicPr>
          <p:cNvPr id="3" name="Image 0" descr="/private/tmp/claude-501/-Users-markov-m4-Projects-memory-insight/677a9d82-cf2b-4b33-bafa-75de8844fc75/scratchpad/pptbuild/n2-framework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48" y="960120"/>
            <a:ext cx="10972800" cy="63436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739521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②⑦ 同在 DRAM 内部（PIM 通道侧 / PuD 阵列级）；①⑤ 分别解决地址翻译和缓存一致性；④⑥ 共享 CHI 互联骨架。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46304"/>
            <a:ext cx="11612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框架总览（原生组件）：端侧 SoC 片上互联与多级缓存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41248"/>
            <a:ext cx="1940357" cy="1188720"/>
          </a:xfrm>
          <a:prstGeom prst="roundRect">
            <a:avLst>
              <a:gd name="adj" fmla="val 4615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886968"/>
            <a:ext cx="17940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P-cluster · 大核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1115568"/>
            <a:ext cx="17940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4× Cortex-X / Oryon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1316736"/>
            <a:ext cx="561442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16736"/>
            <a:ext cx="5614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63778" y="1316736"/>
            <a:ext cx="561442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3778" y="1316736"/>
            <a:ext cx="5614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80083" y="1316736"/>
            <a:ext cx="561442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80083" y="1316736"/>
            <a:ext cx="5614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Private L2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7472" y="1554480"/>
            <a:ext cx="1794053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554480"/>
            <a:ext cx="17940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MMU / TLB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1792224"/>
            <a:ext cx="179405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MESI 写回 · 64B · PASID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92401" y="841248"/>
            <a:ext cx="1940357" cy="1188720"/>
          </a:xfrm>
          <a:prstGeom prst="roundRect">
            <a:avLst>
              <a:gd name="adj" fmla="val 4615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65553" y="886968"/>
            <a:ext cx="17940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E-cluster · 小核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65553" y="1115568"/>
            <a:ext cx="17940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4× Cortex-A720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65553" y="1316736"/>
            <a:ext cx="561442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65553" y="1316736"/>
            <a:ext cx="5614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81858" y="1316736"/>
            <a:ext cx="561442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81858" y="1316736"/>
            <a:ext cx="5614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98164" y="1316736"/>
            <a:ext cx="561442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8164" y="1316736"/>
            <a:ext cx="5614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Private L2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65553" y="1554480"/>
            <a:ext cx="1794053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65553" y="1554480"/>
            <a:ext cx="17940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MMU / TLB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365553" y="1792224"/>
            <a:ext cx="179405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低功耗 · 效率任务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10482" y="841248"/>
            <a:ext cx="1648663" cy="1188720"/>
          </a:xfrm>
          <a:prstGeom prst="roundRect">
            <a:avLst>
              <a:gd name="adj" fmla="val 4615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3634" y="886968"/>
            <a:ext cx="1502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GPU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3634" y="1115568"/>
            <a:ext cx="15023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/ ALU 阵列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3634" y="1316736"/>
            <a:ext cx="72374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3634" y="1316736"/>
            <a:ext cx="7237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L1/L2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162245" y="1316736"/>
            <a:ext cx="72374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2245" y="1316736"/>
            <a:ext cx="7237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Scratchpad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83634" y="1572768"/>
            <a:ext cx="15023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数千线程 · 需 ReqV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36869" y="841248"/>
            <a:ext cx="1503274" cy="1188720"/>
          </a:xfrm>
          <a:prstGeom prst="roundRect">
            <a:avLst>
              <a:gd name="adj" fmla="val 4615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10021" y="886968"/>
            <a:ext cx="13569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NPU / DSP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10021" y="1115568"/>
            <a:ext cx="13569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MAC 阵列 · 推理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10021" y="1316736"/>
            <a:ext cx="651053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10021" y="1316736"/>
            <a:ext cx="6510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Local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15938" y="1316736"/>
            <a:ext cx="651053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5938" y="1316736"/>
            <a:ext cx="6510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Weight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10021" y="1572768"/>
            <a:ext cx="1356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批量预加载权重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617866" y="841248"/>
            <a:ext cx="1164031" cy="1188720"/>
          </a:xfrm>
          <a:prstGeom prst="roundRect">
            <a:avLst>
              <a:gd name="adj" fmla="val 4713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91018" y="886968"/>
            <a:ext cx="10177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ISP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691018" y="1115568"/>
            <a:ext cx="10177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图像信号处理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691018" y="1316736"/>
            <a:ext cx="1017727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91018" y="1316736"/>
            <a:ext cx="10177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 Buf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691018" y="1572768"/>
            <a:ext cx="10177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Camera 流水线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859622" y="841248"/>
            <a:ext cx="1260958" cy="1188720"/>
          </a:xfrm>
          <a:prstGeom prst="roundRect">
            <a:avLst>
              <a:gd name="adj" fmla="val 4615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32774" y="886968"/>
            <a:ext cx="11146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Media / DMA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932774" y="1115568"/>
            <a:ext cx="11146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视频编解码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932774" y="1316736"/>
            <a:ext cx="1114654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32774" y="1316736"/>
            <a:ext cx="11146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Codec Buffer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932774" y="1572768"/>
            <a:ext cx="11146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H.265/AV1 · DMA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0198303" y="841248"/>
            <a:ext cx="1717243" cy="1188720"/>
          </a:xfrm>
          <a:prstGeom prst="roundRect">
            <a:avLst>
              <a:gd name="adj" fmla="val 4615"/>
            </a:avLst>
          </a:prstGeom>
          <a:solidFill>
            <a:srgbClr val="F3E8FF"/>
          </a:solidFill>
          <a:ln w="15875">
            <a:solidFill>
              <a:srgbClr val="7C3AED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10271455" y="886968"/>
            <a:ext cx="15709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1C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芯粒 B（Chiplet）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271455" y="1115568"/>
            <a:ext cx="15709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1C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独立计算 IP · 不同工艺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271455" y="1316736"/>
            <a:ext cx="15709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81C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600mm² 良率~50%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81C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2×300mm² 各~70%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310482" y="2267712"/>
            <a:ext cx="5810098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01922" y="2304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4E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 / SMMU v3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760720" y="2313432"/>
            <a:ext cx="50292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34E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0720" y="23134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4E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SVA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318504" y="2313432"/>
            <a:ext cx="50292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34E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18504" y="23134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4E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IOPF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876288" y="2313432"/>
            <a:ext cx="658368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34E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76288" y="231343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4E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ATS/PRI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589520" y="2313432"/>
            <a:ext cx="566928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34E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89520" y="23134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4E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PASID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211312" y="231343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34E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11312" y="231343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34E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Stall 模型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837115" y="2267712"/>
            <a:ext cx="237744" cy="23774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37115" y="22677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401922" y="2523744"/>
            <a:ext cx="56272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设备共享进程虚拟地址 · 按需调页取代全程锁页 · 锁页 −60~80% · CPU 拷贝 −40~60%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74320" y="2907792"/>
            <a:ext cx="11640312" cy="804672"/>
          </a:xfrm>
          <a:prstGeom prst="roundRect">
            <a:avLst>
              <a:gd name="adj" fmla="val 6818"/>
            </a:avLst>
          </a:prstGeom>
          <a:solidFill>
            <a:srgbClr val="F3E8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29443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1C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Coherent Fabric / CMN NoC（AMBA CHI）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11480" y="3218688"/>
            <a:ext cx="27432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4632" y="324612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1C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LLC + 目录 / Snoop Filter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484632" y="342900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64B 行 · MESI 追踪 · 形式验证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871216" y="3218688"/>
            <a:ext cx="237744" cy="23774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871216" y="3218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264408" y="3218688"/>
            <a:ext cx="27432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37560" y="324612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1C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FCS 细粒度一致性特化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3337560" y="342900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每请求选 ReqV/ReqO/Req2/ReqS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724144" y="3218688"/>
            <a:ext cx="237744" cy="23774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24144" y="3218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117336" y="3218688"/>
            <a:ext cx="27432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6190488" y="324612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1C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CHI C2C 跨芯粒一致性端口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6190488" y="342900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UCIe 物理层 · Realm · ~20 ns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8577072" y="3218688"/>
            <a:ext cx="237744" cy="23774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577072" y="3218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8970264" y="3218688"/>
            <a:ext cx="27432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043416" y="324612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1C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I/O 一致性端口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9043416" y="342900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 · 外设 DMA · 加速器接入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1005840" y="3913632"/>
            <a:ext cx="10177272" cy="365760"/>
          </a:xfrm>
          <a:prstGeom prst="roundRect">
            <a:avLst>
              <a:gd name="adj" fmla="val 15000"/>
            </a:avLst>
          </a:prstGeom>
          <a:solidFill>
            <a:srgbClr val="E0E7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05840" y="391363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 Level Cache（SLC）· 8–32 MB · CPU / GPU / NPU / ISP / Media 全 IP 共享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274320" y="4535424"/>
            <a:ext cx="11640312" cy="621792"/>
          </a:xfrm>
          <a:prstGeom prst="roundRect">
            <a:avLst>
              <a:gd name="adj" fmla="val 8824"/>
            </a:avLst>
          </a:prstGeom>
          <a:solidFill>
            <a:srgbClr val="DCFCE7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11480" y="4572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内存控制器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411480" y="4809744"/>
            <a:ext cx="7772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4532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11480" y="48097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 0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280160" y="4809744"/>
            <a:ext cx="7772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4532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280160" y="48097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 1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148840" y="4809744"/>
            <a:ext cx="7772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4532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148840" y="48097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 2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3017520" y="4809744"/>
            <a:ext cx="7772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4532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017520" y="48097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 3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3931920" y="4809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⋯（×8 通道）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5989320" y="4617720"/>
            <a:ext cx="5715000" cy="45720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108192" y="46360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内存压缩引擎（MFC）· 近数据处理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6108192" y="4837176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带宽压缩 · 位平面重组 · 数据过滤 / 选择性读取 · 透明带宽放大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1420856" y="4608576"/>
            <a:ext cx="237744" cy="23774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1420856" y="4608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274320" y="5358384"/>
            <a:ext cx="11640312" cy="9144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11480" y="54041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LPDDR5X / LPDDR5 统一内存</a:t>
            </a:r>
            <a:endParaRPr lang="en-US" sz="1300" dirty="0"/>
          </a:p>
        </p:txBody>
      </p:sp>
      <p:sp>
        <p:nvSpPr>
          <p:cNvPr id="114" name="Text 112"/>
          <p:cNvSpPr/>
          <p:nvPr/>
        </p:nvSpPr>
        <p:spPr>
          <a:xfrm>
            <a:off x="3840480" y="541324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8×16-bit = 128-bit · ~68 GB/s · 10.7 Gbps/pin · 统一架构（无独立显存）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411480" y="5669280"/>
            <a:ext cx="5440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30352" y="569671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Bank 级 PIM：SIMD/MAC 计算单元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530352" y="589788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NMC 动态分配 · 内部带宽 409.6 GB/s（外部 8×）· 能耗 ~3 pJ/bit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5568696" y="5678424"/>
            <a:ext cx="237744" cy="23774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568696" y="5678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6035040" y="5669280"/>
            <a:ext cx="56692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153912" y="56967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子阵列级 PuD（Proteus）：位线电荷共享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6153912" y="589788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按有效精度动态压缩位宽 · 多阵列并行 · 吞吐 88× vs CPU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11420856" y="5678424"/>
            <a:ext cx="237744" cy="23774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1420856" y="5678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1244498" y="2029968"/>
            <a:ext cx="0" cy="877824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6" name="Text 124"/>
          <p:cNvSpPr/>
          <p:nvPr/>
        </p:nvSpPr>
        <p:spPr>
          <a:xfrm>
            <a:off x="1298448" y="23774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own MMU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3262579" y="2029968"/>
            <a:ext cx="0" cy="877824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8" name="Text 126"/>
          <p:cNvSpPr/>
          <p:nvPr/>
        </p:nvSpPr>
        <p:spPr>
          <a:xfrm>
            <a:off x="3319272" y="23774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own MMU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5135270" y="2029968"/>
            <a:ext cx="0" cy="23774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0" name="Shape 128"/>
          <p:cNvSpPr/>
          <p:nvPr/>
        </p:nvSpPr>
        <p:spPr>
          <a:xfrm>
            <a:off x="6788506" y="2029968"/>
            <a:ext cx="0" cy="23774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1" name="Shape 129"/>
          <p:cNvSpPr/>
          <p:nvPr/>
        </p:nvSpPr>
        <p:spPr>
          <a:xfrm>
            <a:off x="8200339" y="2029968"/>
            <a:ext cx="0" cy="23774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9490558" y="2029968"/>
            <a:ext cx="0" cy="23774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7215530" y="2724912"/>
            <a:ext cx="0" cy="18288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>
            <a:off x="11056925" y="2029968"/>
            <a:ext cx="0" cy="877824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  <a:tailEnd type="triangle"/>
          </a:ln>
        </p:spPr>
      </p:sp>
      <p:sp>
        <p:nvSpPr>
          <p:cNvPr id="135" name="Text 133"/>
          <p:cNvSpPr/>
          <p:nvPr/>
        </p:nvSpPr>
        <p:spPr>
          <a:xfrm>
            <a:off x="10515600" y="2377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CHI C2C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6094476" y="3712464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>
            <a:off x="6094476" y="4279392"/>
            <a:ext cx="0" cy="12801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00100" y="4407408"/>
            <a:ext cx="80467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00100" y="4407408"/>
            <a:ext cx="0" cy="12801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1668780" y="4407408"/>
            <a:ext cx="0" cy="12801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>
            <a:off x="2537460" y="4407408"/>
            <a:ext cx="0" cy="12801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3406140" y="4407408"/>
            <a:ext cx="0" cy="12801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8846820" y="4407408"/>
            <a:ext cx="0" cy="12801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800100" y="5157216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5" name="Shape 143"/>
          <p:cNvSpPr/>
          <p:nvPr/>
        </p:nvSpPr>
        <p:spPr>
          <a:xfrm>
            <a:off x="1668780" y="5157216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6" name="Shape 144"/>
          <p:cNvSpPr/>
          <p:nvPr/>
        </p:nvSpPr>
        <p:spPr>
          <a:xfrm>
            <a:off x="2537460" y="5157216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7" name="Shape 145"/>
          <p:cNvSpPr/>
          <p:nvPr/>
        </p:nvSpPr>
        <p:spPr>
          <a:xfrm>
            <a:off x="3406140" y="5157216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8" name="Shape 146"/>
          <p:cNvSpPr/>
          <p:nvPr/>
        </p:nvSpPr>
        <p:spPr>
          <a:xfrm>
            <a:off x="8846820" y="5157216"/>
            <a:ext cx="0" cy="20116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9" name="Text 147"/>
          <p:cNvSpPr/>
          <p:nvPr/>
        </p:nvSpPr>
        <p:spPr>
          <a:xfrm>
            <a:off x="274320" y="6345936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本图为原生 PPT 组件，可在 PowerPoint 中直接编辑；编号 ①–⑦ 对应七个洞察。CPU 自带 MMU 直连 NoC，其余 IP 经 IOMMU 做 IOVA→PA 翻译。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 缺页处理与 SVA 统一地址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模块：IOMMU / SMMU v3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 DMA 全程锁定设备缓冲区——单 GPU/NPU 锁住 2–6 GB 物理页，严重压缩可用内存；bounce buffer 显式拷贝使带宽翻倍浪费。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SMMU v3 引入 stall 模型 + IOPF 框架，配合 ATS/PRI 与 PASID，设备共享进程虚拟地址、按需调页，彻底消除锁页与 bounce buffer。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一句话：「全程锁页 + bounce 拷贝」→「共享虚拟地址 + 按需调页」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−60~80%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锁页减少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−40~60%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CPU 拷贝开销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LPDDR 近存计算（PIM）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模块：DRAM Bank 内部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解码受冯诺依曼瓶颈——7B INT8 每 token 需读 ~7 GB 权重，LPDDR5 外部 51.2 GB/s 只达 ~137 ms/tok；片外搬运能耗 ~20 pJ/bit 主导总功耗。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Bank 内/旁嵌入 SIMD/MAC，利用内部全 Bank 带宽 409.6 GB/s（外部 8×），GEMV 就地执行；NMC 动态分配 PIM/传统 Bank。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一句话：「数据搬到计算」→「计算搬到数据」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8×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 vs 外部带宽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6.7×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能耗降低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CXL 近数据处理与内存压缩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模块：CXL Type-3 设备控制器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CXL 容量可扩展但带宽瓶颈——PCIe 5.0 x16 峰值仅 ~64 GB/s；64k+ token KV 缓存打满链路，BF16 权重直接压缩收益极低（仅 0–23%）。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CXL Type-3 设备端引入 NDP 控制器，位平面重组大幅提升可压缩性，数据跨链路前完成压缩/选择性读取，透明带宽放大。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一句话：「原始数据过链路」→「近数据压缩 + 透明带宽放大」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~640 ns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CXL.mem 延迟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85%+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KV 卸载占链路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AMBA CHI C2C 与片上互联演进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模块：CMN 一致性网格 / 跨芯粒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单片 SoC 受掩模面积上限（858 mm²）约束，良率超线性下降；协议桥每跳增加 50–100 ns 延迟，无法跨裸片传播安全 Realm。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CHI C2C 将一致性协议包化用 UCIe 跨裸片延伸 + NoC S3 异构背板 + Realm 安全域编码，实现多芯粒完整一致性域。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一句话：「单片面积受限 + 桥接高延迟」→「CHI C2C 多芯粒一致性」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~20 ns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跨芯粒延迟（降 2.5–5×）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50%→70%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芯粒良率提升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CXL 缓存一致性协议验证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模块：CXL.cache 协议栈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PCIe DMA 无硬件一致性——设备改内存不通知 CPU 缓存，须显式 clflush；粒度不匹配（DMA 4 KB vs 加速器 64 B），规范散文含歧义。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CXL.cache 以 64 B 缓存行粒度实现硬件一致性，设备持有 MESI 状态接受 snoop；Isabelle 形式化验证确保规范无歧义。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一句话：「软件刷 + 4KB DMA」→「64B 硬件一致 + 形式验证」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−85%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描述符延迟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40.2×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远程原子操作加速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细粒度异构一致性特化（FCS）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模块：LLC/L2 目录 ↔ 各 IP L1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 MESI 强制 GPU/DSP 用写方无效化——GPU 数千线程写不相交区域时，99% 网络流量为冗余一致性消息，吞吐严重退化。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Spandex + FCS 在每条访存请求粒度独立选最优协议（ReqV/ReqO/Req2/ReqS），按运行时共享模式动态匹配，消除冗余无效化。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一句话：「统一 MESI 一刀切」→「每请求选最优一致性协议」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−99%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GPU 冗余一致性消息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−29%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执行时间（Spandex+FCS）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Processing-using-DRAM（Proteus）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0" y="393192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393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模块：DRAM Bank 子阵列 / 位线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 PuD（Ambit/SIMDRAM）对 N 位操作数固定 N 串行周期不考虑有效精度；单阵列执行未利用 DRAM 多阵列并行性。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Proteus 运行时检测有效精度（前导零/一），动态压缩位宽 + 跨多阵列并发执行，延迟从线性于位宽变为线性于有效精度。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一句话：「固定位宽串行」→「有效精度自适应 + 多阵列并行」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88×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CPU 吞吐（16 bank）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35×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CPU 能耗降低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七个洞察 · 关键数字速览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1744" y="1645920"/>
            <a:ext cx="1371600" cy="3840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6376" y="187452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76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1744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 SVA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1744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−80%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91744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锁页减少（峰值）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64512" y="1645920"/>
            <a:ext cx="1371600" cy="3840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9144" y="187452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9144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64512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LPDDR PIM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64512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8× 带宽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64512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 vs 外部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37280" y="1645920"/>
            <a:ext cx="1371600" cy="3840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1912" y="187452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1912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3728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CXL NDP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37280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~640 ns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837280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CXL.mem 延迟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10048" y="1645920"/>
            <a:ext cx="1371600" cy="3840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4680" y="187452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468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10048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CHI C2C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10048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~20 ns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410048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跨芯粒延迟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82816" y="1645920"/>
            <a:ext cx="1371600" cy="3840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67448" y="187452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67448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82816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CXL.cache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82816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−85%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982816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描述符延迟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55584" y="1645920"/>
            <a:ext cx="1371600" cy="3840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40216" y="187452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40216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555584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FCS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55584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−99%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8555584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冗余消息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128352" y="1645920"/>
            <a:ext cx="1371600" cy="3840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12984" y="187452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12984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128352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PuD Proteus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128352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88×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0128352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CPU 吞吐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内存系统-片上互联-多IP一致性协同优化设计研究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 片上互联与多级缓存全景 · N+2 调研的七个洞察</dc:title>
  <dc:subject>PptxGenJS Presentation</dc:subject>
  <dc:creator>memory_insight</dc:creator>
  <cp:lastModifiedBy>memory_insight</cp:lastModifiedBy>
  <cp:revision>1</cp:revision>
  <dcterms:created xsi:type="dcterms:W3CDTF">2026-06-29T16:55:26Z</dcterms:created>
  <dcterms:modified xsi:type="dcterms:W3CDTF">2026-06-29T16:55:26Z</dcterms:modified>
</cp:coreProperties>
</file>