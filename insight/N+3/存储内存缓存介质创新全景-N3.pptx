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存储 / 内存 / 缓存介质创新全景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68680" y="30632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EE7B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N+3 调研的八个洞察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68680" y="388620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片上缓存（SRAM→MRAM）→ 主存（LPDDR6/HBM4）→ eNVM（ReRAM/STT-MRAM）→ 存储（UFS 5.0）→ 模拟存算（ECRAM/FeFET）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68680" y="4709160"/>
            <a:ext cx="3840480" cy="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48463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远期存储/内存/缓存介质创新与架构变革研究 · 调研范围 2023–2026+ · 8 个主题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68680" y="5669280"/>
            <a:ext cx="402336" cy="40233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5669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399032" y="5669280"/>
            <a:ext cx="402336" cy="40233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99032" y="5669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929384" y="5669280"/>
            <a:ext cx="402336" cy="40233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9384" y="5669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459736" y="5669280"/>
            <a:ext cx="402336" cy="40233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59736" y="5669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990088" y="5669280"/>
            <a:ext cx="402336" cy="40233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90088" y="5669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520440" y="5669280"/>
            <a:ext cx="402336" cy="40233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20440" y="5669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050792" y="5669280"/>
            <a:ext cx="402336" cy="40233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50792" y="5669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581144" y="5669280"/>
            <a:ext cx="402336" cy="40233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81144" y="5669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框架总览：存储 / 内存 / 缓存介质创新全景</a:t>
            </a:r>
            <a:endParaRPr lang="en-US" sz="2600" dirty="0"/>
          </a:p>
        </p:txBody>
      </p:sp>
      <p:pic>
        <p:nvPicPr>
          <p:cNvPr id="3" name="Image 0" descr="/private/tmp/claude-501/-Users-markov-m4-Projects-memory-insight/677a9d82-cf2b-4b33-bafa-75de8844fc75/scratchpad/pptbuild/n3-framework-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448" y="868680"/>
            <a:ext cx="10972800" cy="5577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64008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 横跨缓存与 eNVM 两层；①⑧ 围绕 SRAM 替代但成熟度不同；⑤⑥⑦ 各自层级「下一代标准」；④ 横切神经网络加速器。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12064" cy="51206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20040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SOT-MRAM：下一代缓存 SRAM 替代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686800" y="393192"/>
            <a:ext cx="320040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0" y="3931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模块：片上缓存 L2/L3/LLC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5303520" cy="2377440"/>
          </a:xfrm>
          <a:prstGeom prst="roundRect">
            <a:avLst>
              <a:gd name="adj" fmla="val 5769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234440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面临的问题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169164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6T-SRAM sub-5nm 面积停滞——漏电达总处理器功耗 50%，占 AI 处理器面积 50–70%，三重约束（面积/功耗/成本）限制更大缓存。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26480" y="1097280"/>
            <a:ext cx="5486400" cy="2377440"/>
          </a:xfrm>
          <a:prstGeom prst="roundRect">
            <a:avLst>
              <a:gd name="adj" fmla="val 5769"/>
            </a:avLst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55080" y="1234440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我们的洞察怎么解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55080" y="169164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SOT-MRAM 三端自旋器件：sub-ns 切换、零待机漏电（非易失）、耐久 &gt;10¹⁵ 次、更小比特单元面积，根本打破 SRAM 漏电-面积困局。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106424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7490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一句话：「漏电 + 面积双杀」→「零漏电 + 面积缩减」的根本替代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828800" y="4572000"/>
            <a:ext cx="3657600" cy="1463040"/>
          </a:xfrm>
          <a:prstGeom prst="roundRect">
            <a:avLst>
              <a:gd name="adj" fmla="val 9375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828800" y="47091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596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50%→0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1828800" y="5486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待机漏电占比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675120" y="4572000"/>
            <a:ext cx="3657600" cy="1463040"/>
          </a:xfrm>
          <a:prstGeom prst="roundRect">
            <a:avLst>
              <a:gd name="adj" fmla="val 9375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675120" y="47091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596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&gt;10¹⁵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6675120" y="5486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写耐久（次）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12064" cy="51206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20040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STT-MRAM 嵌入式商用化与 LLC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686800" y="393192"/>
            <a:ext cx="320040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0" y="3931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模块：eNVM + LLC（双层横跨）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5303520" cy="2377440"/>
          </a:xfrm>
          <a:prstGeom prst="roundRect">
            <a:avLst>
              <a:gd name="adj" fmla="val 5769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234440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面临的问题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169164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eFlash 无法缩放至 28nm 以下，额外 7–13 掩膜增加 20–30% 晶圆成本；32MB SRAM LLC 漏电可超计算核动态功耗。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26480" y="1097280"/>
            <a:ext cx="5486400" cy="2377440"/>
          </a:xfrm>
          <a:prstGeom prst="roundRect">
            <a:avLst>
              <a:gd name="adj" fmla="val 5769"/>
            </a:avLst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55080" y="1234440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我们的洞察怎么解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55080" y="169164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STT-MRAM BEOL 集成（无额外 FEOL 掩膜），统一 NVM 代码存储 + 工作内存，2.3× 密度、零待机漏电；22–28nm MCU 节点已量产。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106424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7490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一句话：「eFlash + SRAM 双工艺」→「STT-MRAM 一种介质统一两层」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828800" y="4572000"/>
            <a:ext cx="3657600" cy="1463040"/>
          </a:xfrm>
          <a:prstGeom prst="roundRect">
            <a:avLst>
              <a:gd name="adj" fmla="val 9375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828800" y="47091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596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2.3×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1828800" y="5486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密度 vs SRAM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675120" y="4572000"/>
            <a:ext cx="3657600" cy="1463040"/>
          </a:xfrm>
          <a:prstGeom prst="roundRect">
            <a:avLst>
              <a:gd name="adj" fmla="val 9375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675120" y="47091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596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−20~30%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6675120" y="5486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晶圆成本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12064" cy="51206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20040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ReRAM/RRAM：可缩放 eNVM 替代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686800" y="393192"/>
            <a:ext cx="320040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0" y="3931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模块：eNVM（MCU/IoT/汽车）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5303520" cy="2377440"/>
          </a:xfrm>
          <a:prstGeom prst="roundRect">
            <a:avLst>
              <a:gd name="adj" fmla="val 5769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234440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面临的问题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169164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eFlash 卡死 28nm，7–10 额外掩膜 &gt;25% 成本溢价；边缘 AI 需能参与存算一体的存储介质，eFlash 做不到。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26480" y="1097280"/>
            <a:ext cx="5486400" cy="2377440"/>
          </a:xfrm>
          <a:prstGeom prst="roundRect">
            <a:avLst>
              <a:gd name="adj" fmla="val 5769"/>
            </a:avLst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55080" y="1234440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我们的洞察怎么解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55080" y="169164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ReRAM 二端金属氧化物器件，可缩放至 12nm+，仅 ~2 额外掩膜，支持模拟 MAC 运算（Weebit / Infineon / TSMC 平台，2025–27 量产）。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106424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7490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一句话：「eFlash 7–10 掩膜卡 28nm」→「ReRAM 2 掩膜缩放 12nm」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828800" y="4572000"/>
            <a:ext cx="3657600" cy="1463040"/>
          </a:xfrm>
          <a:prstGeom prst="roundRect">
            <a:avLst>
              <a:gd name="adj" fmla="val 9375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828800" y="47091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596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~2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1828800" y="5486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额外掩膜（vs 7–10）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675120" y="4572000"/>
            <a:ext cx="3657600" cy="1463040"/>
          </a:xfrm>
          <a:prstGeom prst="roundRect">
            <a:avLst>
              <a:gd name="adj" fmla="val 9375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675120" y="47091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596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12nm+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6675120" y="5486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可缩放工艺节点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12064" cy="51206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20040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ECRAM + HfO₂ FeFET 铁电器件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686800" y="393192"/>
            <a:ext cx="320040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0" y="3931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模块：模拟存算一体（CIM）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5303520" cy="2377440"/>
          </a:xfrm>
          <a:prstGeom prst="roundRect">
            <a:avLst>
              <a:gd name="adj" fmla="val 5769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234440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面临的问题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169164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ReRAM/PCM 随机丝状开关限制可靠模拟态仅 4–16 级，非对称写入系数高达 70（理想 ~1），DNN 训练精度低 5–15%。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26480" y="1097280"/>
            <a:ext cx="5486400" cy="2377440"/>
          </a:xfrm>
          <a:prstGeom prst="roundRect">
            <a:avLst>
              <a:gd name="adj" fmla="val 5769"/>
            </a:avLst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55080" y="1234440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我们的洞察怎么解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55080" y="169164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ECRAM &gt;1000 确定性电导态 + 对称线性写入；HfO₂ FeFET CMOS 原生 sub-ns 铁电切换——突破 ReRAM 精度瓶颈实现片上训练。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106424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7490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一句话：「4–16 态 / 非对称噪声」→「&gt;1000 态 / 对称线性确定性」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828800" y="4572000"/>
            <a:ext cx="3657600" cy="1463040"/>
          </a:xfrm>
          <a:prstGeom prst="roundRect">
            <a:avLst>
              <a:gd name="adj" fmla="val 9375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828800" y="47091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596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&gt;1000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1828800" y="5486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可靠模拟态（vs 4–16）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675120" y="4572000"/>
            <a:ext cx="3657600" cy="1463040"/>
          </a:xfrm>
          <a:prstGeom prst="roundRect">
            <a:avLst>
              <a:gd name="adj" fmla="val 9375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675120" y="47091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596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~1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6675120" y="5486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非对称系数（vs 70）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12064" cy="51206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20040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LPDDR6 标准与移动 DRAM 演进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686800" y="393192"/>
            <a:ext cx="320040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0" y="3931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模块：主存 DRAM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5303520" cy="2377440"/>
          </a:xfrm>
          <a:prstGeom prst="roundRect">
            <a:avLst>
              <a:gd name="adj" fmla="val 5769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234440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面临的问题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169164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LPDDR5X ~34 GB/s 不足以支撑 7B+ LLM 推理；单轨供电高频浪费功耗；无 ECC/RAS 限制汽车/数据中心部署。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26480" y="1097280"/>
            <a:ext cx="5486400" cy="2377440"/>
          </a:xfrm>
          <a:prstGeom prst="roundRect">
            <a:avLst>
              <a:gd name="adj" fmla="val 5769"/>
            </a:avLst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55080" y="1234440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我们的洞察怎么解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55080" y="169164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LPDDR6 带宽翻倍 ~76.8 GB/s（14.4Gbps/pin），双轨供电（读 73% / 写 78%），强制 ECC/RAS + 原生 PIM 接口——全场景 AI-ready。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106424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7490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一句话：「移动专用 · 单轨 · 无 RAS」→「全场景 · 双轨 · PIM-ready」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828800" y="4572000"/>
            <a:ext cx="3657600" cy="1463040"/>
          </a:xfrm>
          <a:prstGeom prst="roundRect">
            <a:avLst>
              <a:gd name="adj" fmla="val 9375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828800" y="47091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596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2×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1828800" y="5486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带宽 vs LPDDR5X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675120" y="4572000"/>
            <a:ext cx="3657600" cy="1463040"/>
          </a:xfrm>
          <a:prstGeom prst="roundRect">
            <a:avLst>
              <a:gd name="adj" fmla="val 9375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675120" y="47091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596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−22~27%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6675120" y="5486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读写功耗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12064" cy="51206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20040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UFS 5.0 与计算存储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686800" y="393192"/>
            <a:ext cx="320040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0" y="3931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模块：Flash 存储（NAND）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5303520" cy="2377440"/>
          </a:xfrm>
          <a:prstGeom prst="roundRect">
            <a:avLst>
              <a:gd name="adj" fmla="val 5769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234440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面临的问题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169164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UFS 4.0 峰值 ~4.2 GB/s，7B 模型加载 ~1s 无余量并行 RAG/cache I/O；无 inline 数据完整性校验保护高价值模型权重。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26480" y="1097280"/>
            <a:ext cx="5486400" cy="2377440"/>
          </a:xfrm>
          <a:prstGeom prst="roundRect">
            <a:avLst>
              <a:gd name="adj" fmla="val 5769"/>
            </a:avLst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55080" y="1234440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我们的洞察怎么解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55080" y="169164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UFS 5.0（HS-G6, M-PHY 6.0）单通道翻倍至 10.8 GB/s（2.6×），强制链路均衡、多电压域、inline hash 数据完整性。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106424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7490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一句话：「4.2 GB/s 刚好够用」→「10.8 GB/s 为端侧 AI 留出余量」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828800" y="4572000"/>
            <a:ext cx="3657600" cy="1463040"/>
          </a:xfrm>
          <a:prstGeom prst="roundRect">
            <a:avLst>
              <a:gd name="adj" fmla="val 9375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828800" y="47091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596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2.6×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1828800" y="5486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顺序读写速率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675120" y="4572000"/>
            <a:ext cx="3657600" cy="1463040"/>
          </a:xfrm>
          <a:prstGeom prst="roundRect">
            <a:avLst>
              <a:gd name="adj" fmla="val 9375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675120" y="47091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596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+40%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6675120" y="5486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功效提升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12064" cy="51206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20040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HBM4 与先进封装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686800" y="393192"/>
            <a:ext cx="320040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0" y="3931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模块：高带宽内存（GPU/加速器）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5303520" cy="2377440"/>
          </a:xfrm>
          <a:prstGeom prst="roundRect">
            <a:avLst>
              <a:gd name="adj" fmla="val 5769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234440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面临的问题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169164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HBM3E 12nm 固定 base die 浪费 ~80mm²，无法定制；微凸块 25–40µm pitch 限制 TSV 密度，12+ 层堆叠 15–20% 良率损失。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26480" y="1097280"/>
            <a:ext cx="5486400" cy="2377440"/>
          </a:xfrm>
          <a:prstGeom prst="roundRect">
            <a:avLst>
              <a:gd name="adj" fmla="val 5769"/>
            </a:avLst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55080" y="1234440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我们的洞察怎么解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55080" y="169164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HBM4 用 3nm 逻辑增强 base die（可定制 CIM/ECC/电源）+ 混合键合 10µm pitch + UCIe 芯粒接口，2048-bit、12–16 DRAM 层。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106424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7490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一句话：「固定 12nm base die + 微凸块」→「可定制 3nm + 混合键合」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828800" y="4572000"/>
            <a:ext cx="3657600" cy="1463040"/>
          </a:xfrm>
          <a:prstGeom prst="roundRect">
            <a:avLst>
              <a:gd name="adj" fmla="val 9375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828800" y="47091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596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2–3.3 TB/s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1828800" y="5486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单堆叠带宽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675120" y="4572000"/>
            <a:ext cx="3657600" cy="1463040"/>
          </a:xfrm>
          <a:prstGeom prst="roundRect">
            <a:avLst>
              <a:gd name="adj" fmla="val 9375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675120" y="47091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596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−47%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6675120" y="5486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每层热阻（混合键合）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12064" cy="51206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20040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混合 SRAM-MRAM 缓存架构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686800" y="393192"/>
            <a:ext cx="320040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0" y="3931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模块：片上缓存全层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5303520" cy="2377440"/>
          </a:xfrm>
          <a:prstGeom prst="roundRect">
            <a:avLst>
              <a:gd name="adj" fmla="val 5769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234440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面临的问题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169164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Sub-5nm SRAM 面积 0% 缩放（N3E vs N5），64MB LLC 空闲漏 2–5W；SRAM 易失——掉电清除全部缓存状态，断电恢复需冷重建。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26480" y="1097280"/>
            <a:ext cx="5486400" cy="2377440"/>
          </a:xfrm>
          <a:prstGeom prst="roundRect">
            <a:avLst>
              <a:gd name="adj" fmla="val 5769"/>
            </a:avLst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55080" y="1234440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我们的洞察怎么解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55080" y="169164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仅保留 SRAM 做延迟关键 L1；L2/LLC 换 STT-MRAM（2.3×密度/零漏电）或 SOT-MRAM（sub-1ns/10¹⁵耐久）——instant-on + 免 checkpoint。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106424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7490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一句话：「全 SRAM · 漏电 + 易失」→「L1 SRAM + L2/LLC MRAM · 非易失」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828800" y="4572000"/>
            <a:ext cx="3657600" cy="1463040"/>
          </a:xfrm>
          <a:prstGeom prst="roundRect">
            <a:avLst>
              <a:gd name="adj" fmla="val 9375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828800" y="47091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596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−20~30%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1828800" y="5486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释放面积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675120" y="4572000"/>
            <a:ext cx="3657600" cy="1463040"/>
          </a:xfrm>
          <a:prstGeom prst="roundRect">
            <a:avLst>
              <a:gd name="adj" fmla="val 9375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675120" y="47091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596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2–5W→~0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6675120" y="5486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LLC 待机漏电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八个洞察 · 关键数字速览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6024" y="1645920"/>
            <a:ext cx="1234440" cy="384048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2076" y="1874520"/>
            <a:ext cx="402336" cy="40233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2076" y="1874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6024" y="24231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SOT-MRAM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6024" y="310896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零漏电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6024" y="38404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sub-ns 切换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26768" y="1645920"/>
            <a:ext cx="1234440" cy="384048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42820" y="1874520"/>
            <a:ext cx="402336" cy="40233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42820" y="1874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026768" y="24231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STT-MRAM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26768" y="310896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2.3×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026768" y="38404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密度 vs SRAM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07512" y="1645920"/>
            <a:ext cx="1234440" cy="384048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23564" y="1874520"/>
            <a:ext cx="402336" cy="40233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23564" y="1874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407512" y="24231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ReRAM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07512" y="310896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~2 掩膜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407512" y="38404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vs eFlash 7–10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88256" y="1645920"/>
            <a:ext cx="1234440" cy="384048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04308" y="1874520"/>
            <a:ext cx="402336" cy="40233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04308" y="1874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788256" y="24231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ECRAM/FeFET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88256" y="310896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&gt;1000 态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788256" y="38404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对称模拟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69000" y="1645920"/>
            <a:ext cx="1234440" cy="384048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85052" y="1874520"/>
            <a:ext cx="402336" cy="40233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5052" y="1874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169000" y="24231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LPDDR6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69000" y="310896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2× 带宽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169000" y="38404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76.8 GB/s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549744" y="1645920"/>
            <a:ext cx="1234440" cy="384048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965796" y="1874520"/>
            <a:ext cx="402336" cy="40233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65796" y="1874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549744" y="24231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UFS 5.0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549744" y="310896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2.6×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7549744" y="38404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10.8 GB/s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930488" y="1645920"/>
            <a:ext cx="1234440" cy="384048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346540" y="1874520"/>
            <a:ext cx="402336" cy="40233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346540" y="1874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8930488" y="24231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HBM4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930488" y="310896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3.3 TB/s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8930488" y="38404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混合键合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10311232" y="1645920"/>
            <a:ext cx="1234440" cy="384048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727284" y="1874520"/>
            <a:ext cx="402336" cy="40233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727284" y="1874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10311232" y="24231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Hybrid Cache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0311232" y="310896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−30%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10311232" y="38404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释放面积（峰值）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22960" y="5943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远期存储/内存/缓存介质创新与架构变革研究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存储/内存/缓存介质创新全景 · N+3 调研的八个洞察</dc:title>
  <dc:subject>PptxGenJS Presentation</dc:subject>
  <dc:creator>memory_insight</dc:creator>
  <cp:lastModifiedBy>memory_insight</cp:lastModifiedBy>
  <cp:revision>1</cp:revision>
  <dcterms:created xsi:type="dcterms:W3CDTF">2026-06-29T00:20:01Z</dcterms:created>
  <dcterms:modified xsi:type="dcterms:W3CDTF">2026-06-29T00:20:01Z</dcterms:modified>
</cp:coreProperties>
</file>